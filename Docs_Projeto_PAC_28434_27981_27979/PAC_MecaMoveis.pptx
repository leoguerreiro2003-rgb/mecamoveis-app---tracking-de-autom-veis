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81" r:id="rId4"/>
    <p:sldId id="258" r:id="rId5"/>
    <p:sldId id="259" r:id="rId6"/>
    <p:sldId id="280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84" r:id="rId16"/>
    <p:sldId id="268" r:id="rId17"/>
    <p:sldId id="269" r:id="rId18"/>
    <p:sldId id="285" r:id="rId19"/>
    <p:sldId id="286" r:id="rId20"/>
    <p:sldId id="287" r:id="rId21"/>
    <p:sldId id="271" r:id="rId22"/>
    <p:sldId id="272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130" autoAdjust="0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41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71250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797FF5-BA70-2A6D-414E-1A4329873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1B5E09-D61F-382C-24E7-7C17BB5AE5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AAFF02-0B97-89E5-AD07-B19C585BFB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3B3162-231E-F0D4-CB61-B99FC56148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2314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353425-AAD0-68F3-8941-3406A095B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9DEC36-6EBA-4BE5-9B83-409988E077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168D13-FFEA-A61D-95AA-45D8D2C416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A1F7D2-B6AD-7472-EC56-9AE0D72BF0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2473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4B3CF9-A243-932F-A28B-91E6A0DC25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7F1455-FE6F-ED67-DC20-556D7F6FDB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5176DF-BEF4-E413-468A-253E707368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43E87C-9871-9139-7A21-0A38221FE2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68997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541DFF-5CD6-57A1-FC94-F72593375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DD023F-8B53-4783-8A48-38756ED210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5BF479-2982-AE68-9DA5-762E01678A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836381-09A1-347C-CBD6-D3AB5B1512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80061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EB9E1-6938-555E-CDB8-32D9DFF72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ED9568-D77E-6482-56C4-F43B760998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408D4F-7764-3B6C-5AAD-058527D6D2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3D4F2F-7DF7-57CB-EE18-128B346462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21670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9667A4-C5A0-72F8-9E5F-58D86473B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298396-7190-DD17-1E69-50CF233B73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C95413-6039-A546-A023-C72DF717E3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DDB1B6-2938-4311-82F7-C28D2337D7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66054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BLACK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0">
            <a:extLst>
              <a:ext uri="{FF2B5EF4-FFF2-40B4-BE49-F238E27FC236}">
                <a16:creationId xmlns:a16="http://schemas.microsoft.com/office/drawing/2014/main" id="{D6FD75BF-2BC1-8055-4116-9B87830343E3}"/>
              </a:ext>
            </a:extLst>
          </p:cNvPr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8B4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PALC [TWDM]  ·  Julho 2026</a:t>
            </a:r>
            <a:endParaRPr lang="en-US" sz="1300" dirty="0"/>
          </a:p>
        </p:txBody>
      </p:sp>
      <p:sp>
        <p:nvSpPr>
          <p:cNvPr id="31" name="Shape 1">
            <a:extLst>
              <a:ext uri="{FF2B5EF4-FFF2-40B4-BE49-F238E27FC236}">
                <a16:creationId xmlns:a16="http://schemas.microsoft.com/office/drawing/2014/main" id="{B571E367-ABD3-0EFF-4E72-3255877F19A9}"/>
              </a:ext>
            </a:extLst>
          </p:cNvPr>
          <p:cNvSpPr/>
          <p:nvPr/>
        </p:nvSpPr>
        <p:spPr>
          <a:xfrm>
            <a:off x="9052560" y="457200"/>
            <a:ext cx="2468880" cy="502920"/>
          </a:xfrm>
          <a:prstGeom prst="roundRect">
            <a:avLst>
              <a:gd name="adj" fmla="val 5090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PT"/>
          </a:p>
        </p:txBody>
      </p:sp>
      <p:pic>
        <p:nvPicPr>
          <p:cNvPr id="33" name="Image 0" descr="assets/logo.png">
            <a:extLst>
              <a:ext uri="{FF2B5EF4-FFF2-40B4-BE49-F238E27FC236}">
                <a16:creationId xmlns:a16="http://schemas.microsoft.com/office/drawing/2014/main" id="{7E838226-8AEB-8610-3EFC-D982D97BBE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9876" y="1783080"/>
            <a:ext cx="3882044" cy="3882044"/>
          </a:xfrm>
          <a:prstGeom prst="rect">
            <a:avLst/>
          </a:prstGeom>
        </p:spPr>
      </p:pic>
      <p:sp>
        <p:nvSpPr>
          <p:cNvPr id="35" name="Text 3">
            <a:extLst>
              <a:ext uri="{FF2B5EF4-FFF2-40B4-BE49-F238E27FC236}">
                <a16:creationId xmlns:a16="http://schemas.microsoft.com/office/drawing/2014/main" id="{8D8A8E82-3A54-5441-537B-403FA487B6D4}"/>
              </a:ext>
            </a:extLst>
          </p:cNvPr>
          <p:cNvSpPr/>
          <p:nvPr/>
        </p:nvSpPr>
        <p:spPr>
          <a:xfrm>
            <a:off x="640080" y="23317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8B4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Relatório de projeto desenvolvido em PAC</a:t>
            </a:r>
            <a:endParaRPr lang="en-US" sz="1400" dirty="0"/>
          </a:p>
        </p:txBody>
      </p:sp>
      <p:sp>
        <p:nvSpPr>
          <p:cNvPr id="37" name="Text 4">
            <a:extLst>
              <a:ext uri="{FF2B5EF4-FFF2-40B4-BE49-F238E27FC236}">
                <a16:creationId xmlns:a16="http://schemas.microsoft.com/office/drawing/2014/main" id="{C12388B5-2E64-0A7F-7EB7-EEF9BE4F2653}"/>
              </a:ext>
            </a:extLst>
          </p:cNvPr>
          <p:cNvSpPr/>
          <p:nvPr/>
        </p:nvSpPr>
        <p:spPr>
          <a:xfrm>
            <a:off x="640080" y="269748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Meca Móveis</a:t>
            </a:r>
            <a:endParaRPr lang="en-US" sz="5400" dirty="0"/>
          </a:p>
        </p:txBody>
      </p:sp>
      <p:sp>
        <p:nvSpPr>
          <p:cNvPr id="39" name="Text 5">
            <a:extLst>
              <a:ext uri="{FF2B5EF4-FFF2-40B4-BE49-F238E27FC236}">
                <a16:creationId xmlns:a16="http://schemas.microsoft.com/office/drawing/2014/main" id="{1B924A84-94CD-C877-C52C-BF0C0500DB50}"/>
              </a:ext>
            </a:extLst>
          </p:cNvPr>
          <p:cNvSpPr/>
          <p:nvPr/>
        </p:nvSpPr>
        <p:spPr>
          <a:xfrm>
            <a:off x="640080" y="35204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BD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seu tracking de automóveis</a:t>
            </a:r>
            <a:endParaRPr lang="en-US" sz="1800" dirty="0"/>
          </a:p>
        </p:txBody>
      </p:sp>
      <p:sp>
        <p:nvSpPr>
          <p:cNvPr id="41" name="Text 6">
            <a:extLst>
              <a:ext uri="{FF2B5EF4-FFF2-40B4-BE49-F238E27FC236}">
                <a16:creationId xmlns:a16="http://schemas.microsoft.com/office/drawing/2014/main" id="{EFEEA49A-7F31-5FDC-13C9-2AFA9AA04D95}"/>
              </a:ext>
            </a:extLst>
          </p:cNvPr>
          <p:cNvSpPr/>
          <p:nvPr/>
        </p:nvSpPr>
        <p:spPr>
          <a:xfrm>
            <a:off x="640080" y="4572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B4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Docentes: Luís André Rosário, Luís Garcia, Mihai Lupan</a:t>
            </a:r>
            <a:endParaRPr lang="en-US" sz="1200" dirty="0"/>
          </a:p>
        </p:txBody>
      </p:sp>
      <p:sp>
        <p:nvSpPr>
          <p:cNvPr id="43" name="Text 7">
            <a:extLst>
              <a:ext uri="{FF2B5EF4-FFF2-40B4-BE49-F238E27FC236}">
                <a16:creationId xmlns:a16="http://schemas.microsoft.com/office/drawing/2014/main" id="{52AE4E22-6CCE-669C-ABDD-B33C96004607}"/>
              </a:ext>
            </a:extLst>
          </p:cNvPr>
          <p:cNvSpPr/>
          <p:nvPr/>
        </p:nvSpPr>
        <p:spPr>
          <a:xfrm>
            <a:off x="640080" y="489204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B4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Grupo: Leandro Dionísio Nº27981   ·   Leandro Pinto Nº28434   ·   Filipe Viegas Nº27979</a:t>
            </a:r>
            <a:endParaRPr lang="en-US" sz="1200" dirty="0"/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3CB4312E-BB5D-023F-7E35-CA39DA6D862A}"/>
              </a:ext>
            </a:extLst>
          </p:cNvPr>
          <p:cNvSpPr txBox="1"/>
          <p:nvPr/>
        </p:nvSpPr>
        <p:spPr>
          <a:xfrm>
            <a:off x="7194666" y="585326"/>
            <a:ext cx="6093228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 </a:t>
            </a:r>
            <a:r>
              <a:rPr lang="en-US" sz="1300" b="1" dirty="0">
                <a:solidFill>
                  <a:srgbClr val="D99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[TWDM]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BD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SUMÁRIO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Índice</a:t>
            </a:r>
            <a:endParaRPr lang="en-US" sz="4000" dirty="0"/>
          </a:p>
        </p:txBody>
      </p:sp>
      <p:sp>
        <p:nvSpPr>
          <p:cNvPr id="29" name="Text 26"/>
          <p:cNvSpPr/>
          <p:nvPr/>
        </p:nvSpPr>
        <p:spPr>
          <a:xfrm>
            <a:off x="914400" y="63276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D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Meca </a:t>
            </a: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Móveis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7253935" y="63276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Leandro Dionísio · Leandro Pinto · Filipe Viegas</a:t>
            </a:r>
            <a:endParaRPr lang="en-US" sz="1000" dirty="0"/>
          </a:p>
        </p:txBody>
      </p:sp>
      <p:grpSp>
        <p:nvGrpSpPr>
          <p:cNvPr id="10" name="Agrupar 9">
            <a:extLst>
              <a:ext uri="{FF2B5EF4-FFF2-40B4-BE49-F238E27FC236}">
                <a16:creationId xmlns:a16="http://schemas.microsoft.com/office/drawing/2014/main" id="{E4843F66-C5A3-74F8-3BE1-5952C7315D3B}"/>
              </a:ext>
            </a:extLst>
          </p:cNvPr>
          <p:cNvGrpSpPr/>
          <p:nvPr/>
        </p:nvGrpSpPr>
        <p:grpSpPr>
          <a:xfrm>
            <a:off x="986377" y="1661205"/>
            <a:ext cx="4755455" cy="1078992"/>
            <a:chOff x="640080" y="1755648"/>
            <a:chExt cx="5257800" cy="1371600"/>
          </a:xfrm>
        </p:grpSpPr>
        <p:sp>
          <p:nvSpPr>
            <p:cNvPr id="32" name="Shape 2">
              <a:extLst>
                <a:ext uri="{FF2B5EF4-FFF2-40B4-BE49-F238E27FC236}">
                  <a16:creationId xmlns:a16="http://schemas.microsoft.com/office/drawing/2014/main" id="{A05BC514-A335-D49F-DFA8-4AEC97C4D326}"/>
                </a:ext>
              </a:extLst>
            </p:cNvPr>
            <p:cNvSpPr/>
            <p:nvPr/>
          </p:nvSpPr>
          <p:spPr>
            <a:xfrm>
              <a:off x="640080" y="1755648"/>
              <a:ext cx="5257800" cy="1371600"/>
            </a:xfrm>
            <a:prstGeom prst="roundRect">
              <a:avLst>
                <a:gd name="adj" fmla="val 8000"/>
              </a:avLst>
            </a:prstGeom>
            <a:solidFill>
              <a:srgbClr val="2F2D2A"/>
            </a:solidFill>
            <a:ln/>
          </p:spPr>
          <p:txBody>
            <a:bodyPr/>
            <a:lstStyle/>
            <a:p>
              <a:endParaRPr lang="pt-PT" dirty="0"/>
            </a:p>
          </p:txBody>
        </p:sp>
        <p:grpSp>
          <p:nvGrpSpPr>
            <p:cNvPr id="9" name="Agrupar 8">
              <a:extLst>
                <a:ext uri="{FF2B5EF4-FFF2-40B4-BE49-F238E27FC236}">
                  <a16:creationId xmlns:a16="http://schemas.microsoft.com/office/drawing/2014/main" id="{E657D076-68F4-D654-E1BD-FA6650F783E1}"/>
                </a:ext>
              </a:extLst>
            </p:cNvPr>
            <p:cNvGrpSpPr/>
            <p:nvPr/>
          </p:nvGrpSpPr>
          <p:grpSpPr>
            <a:xfrm>
              <a:off x="868680" y="1920240"/>
              <a:ext cx="4892040" cy="1051560"/>
              <a:chOff x="868680" y="1920240"/>
              <a:chExt cx="4892040" cy="1051560"/>
            </a:xfrm>
          </p:grpSpPr>
          <p:sp>
            <p:nvSpPr>
              <p:cNvPr id="39" name="Text 3">
                <a:extLst>
                  <a:ext uri="{FF2B5EF4-FFF2-40B4-BE49-F238E27FC236}">
                    <a16:creationId xmlns:a16="http://schemas.microsoft.com/office/drawing/2014/main" id="{E65F4FFF-2243-401E-9C21-13D1C55BACA1}"/>
                  </a:ext>
                </a:extLst>
              </p:cNvPr>
              <p:cNvSpPr/>
              <p:nvPr/>
            </p:nvSpPr>
            <p:spPr>
              <a:xfrm>
                <a:off x="868680" y="1920240"/>
                <a:ext cx="1188720" cy="9144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3400" b="1" dirty="0">
                    <a:solidFill>
                      <a:srgbClr val="FFBD49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01</a:t>
                </a:r>
                <a:endParaRPr lang="en-US" sz="3400" dirty="0"/>
              </a:p>
            </p:txBody>
          </p:sp>
          <p:sp>
            <p:nvSpPr>
              <p:cNvPr id="43" name="Text 4">
                <a:extLst>
                  <a:ext uri="{FF2B5EF4-FFF2-40B4-BE49-F238E27FC236}">
                    <a16:creationId xmlns:a16="http://schemas.microsoft.com/office/drawing/2014/main" id="{81D3BED5-AF53-77CC-E077-A3BF17FFF3C5}"/>
                  </a:ext>
                </a:extLst>
              </p:cNvPr>
              <p:cNvSpPr/>
              <p:nvPr/>
            </p:nvSpPr>
            <p:spPr>
              <a:xfrm>
                <a:off x="2011680" y="1975104"/>
                <a:ext cx="3749040" cy="5029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700" b="1" dirty="0">
                    <a:solidFill>
                      <a:srgbClr val="FFFFFF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Introdução &amp; Equipa</a:t>
                </a:r>
                <a:endParaRPr lang="en-US" sz="1700" dirty="0"/>
              </a:p>
            </p:txBody>
          </p:sp>
          <p:sp>
            <p:nvSpPr>
              <p:cNvPr id="45" name="Text 5">
                <a:extLst>
                  <a:ext uri="{FF2B5EF4-FFF2-40B4-BE49-F238E27FC236}">
                    <a16:creationId xmlns:a16="http://schemas.microsoft.com/office/drawing/2014/main" id="{435CED33-22C0-B17E-ABB0-AD58E2F58015}"/>
                  </a:ext>
                </a:extLst>
              </p:cNvPr>
              <p:cNvSpPr/>
              <p:nvPr/>
            </p:nvSpPr>
            <p:spPr>
              <a:xfrm>
                <a:off x="2011680" y="2468880"/>
                <a:ext cx="3749040" cy="5029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250" dirty="0">
                    <a:solidFill>
                      <a:srgbClr val="B8B4AC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Contexto do projeto e organização do grupo</a:t>
                </a:r>
                <a:endParaRPr lang="en-US" sz="1250" dirty="0"/>
              </a:p>
            </p:txBody>
          </p:sp>
        </p:grpSp>
      </p:grp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3D5F513C-F17C-38B2-B3C4-3C94DE0B3612}"/>
              </a:ext>
            </a:extLst>
          </p:cNvPr>
          <p:cNvGrpSpPr/>
          <p:nvPr/>
        </p:nvGrpSpPr>
        <p:grpSpPr>
          <a:xfrm>
            <a:off x="6289312" y="1651460"/>
            <a:ext cx="4755169" cy="1113326"/>
            <a:chOff x="6263640" y="1755648"/>
            <a:chExt cx="5257800" cy="1371600"/>
          </a:xfrm>
        </p:grpSpPr>
        <p:sp>
          <p:nvSpPr>
            <p:cNvPr id="47" name="Shape 6">
              <a:extLst>
                <a:ext uri="{FF2B5EF4-FFF2-40B4-BE49-F238E27FC236}">
                  <a16:creationId xmlns:a16="http://schemas.microsoft.com/office/drawing/2014/main" id="{6E0E3689-CB92-A7F4-DC88-05E8C436BE69}"/>
                </a:ext>
              </a:extLst>
            </p:cNvPr>
            <p:cNvSpPr/>
            <p:nvPr/>
          </p:nvSpPr>
          <p:spPr>
            <a:xfrm>
              <a:off x="6263640" y="1755648"/>
              <a:ext cx="5257800" cy="1371600"/>
            </a:xfrm>
            <a:prstGeom prst="roundRect">
              <a:avLst>
                <a:gd name="adj" fmla="val 8000"/>
              </a:avLst>
            </a:prstGeom>
            <a:solidFill>
              <a:srgbClr val="2F2D2A"/>
            </a:solidFill>
            <a:ln/>
          </p:spPr>
          <p:txBody>
            <a:bodyPr/>
            <a:lstStyle/>
            <a:p>
              <a:endParaRPr lang="pt-PT"/>
            </a:p>
          </p:txBody>
        </p:sp>
        <p:grpSp>
          <p:nvGrpSpPr>
            <p:cNvPr id="8" name="Agrupar 7">
              <a:extLst>
                <a:ext uri="{FF2B5EF4-FFF2-40B4-BE49-F238E27FC236}">
                  <a16:creationId xmlns:a16="http://schemas.microsoft.com/office/drawing/2014/main" id="{0C9154A2-677E-FCF5-3BDF-C5C11FA9A758}"/>
                </a:ext>
              </a:extLst>
            </p:cNvPr>
            <p:cNvGrpSpPr/>
            <p:nvPr/>
          </p:nvGrpSpPr>
          <p:grpSpPr>
            <a:xfrm>
              <a:off x="6492240" y="1920240"/>
              <a:ext cx="4892040" cy="1051560"/>
              <a:chOff x="6492240" y="1920240"/>
              <a:chExt cx="4892040" cy="1051560"/>
            </a:xfrm>
          </p:grpSpPr>
          <p:sp>
            <p:nvSpPr>
              <p:cNvPr id="49" name="Text 7">
                <a:extLst>
                  <a:ext uri="{FF2B5EF4-FFF2-40B4-BE49-F238E27FC236}">
                    <a16:creationId xmlns:a16="http://schemas.microsoft.com/office/drawing/2014/main" id="{3791B7CD-66FE-7CF2-9FA3-50611B9AC4D5}"/>
                  </a:ext>
                </a:extLst>
              </p:cNvPr>
              <p:cNvSpPr/>
              <p:nvPr/>
            </p:nvSpPr>
            <p:spPr>
              <a:xfrm>
                <a:off x="6492240" y="1920240"/>
                <a:ext cx="1188720" cy="9144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3400" b="1" dirty="0">
                    <a:solidFill>
                      <a:srgbClr val="FFBD49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02</a:t>
                </a:r>
                <a:endParaRPr lang="en-US" sz="3400" dirty="0"/>
              </a:p>
            </p:txBody>
          </p:sp>
          <p:sp>
            <p:nvSpPr>
              <p:cNvPr id="51" name="Text 8">
                <a:extLst>
                  <a:ext uri="{FF2B5EF4-FFF2-40B4-BE49-F238E27FC236}">
                    <a16:creationId xmlns:a16="http://schemas.microsoft.com/office/drawing/2014/main" id="{3B312051-038D-2016-7450-62F34DCF82C4}"/>
                  </a:ext>
                </a:extLst>
              </p:cNvPr>
              <p:cNvSpPr/>
              <p:nvPr/>
            </p:nvSpPr>
            <p:spPr>
              <a:xfrm>
                <a:off x="7635240" y="1975104"/>
                <a:ext cx="3749040" cy="5029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700" b="1" dirty="0">
                    <a:solidFill>
                      <a:srgbClr val="FFFFFF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Análise &amp; Funcionalidades</a:t>
                </a:r>
                <a:endParaRPr lang="en-US" sz="1700" dirty="0"/>
              </a:p>
            </p:txBody>
          </p:sp>
          <p:sp>
            <p:nvSpPr>
              <p:cNvPr id="53" name="Text 9">
                <a:extLst>
                  <a:ext uri="{FF2B5EF4-FFF2-40B4-BE49-F238E27FC236}">
                    <a16:creationId xmlns:a16="http://schemas.microsoft.com/office/drawing/2014/main" id="{ABD8770D-B61B-DEDA-1B06-FC36C684099E}"/>
                  </a:ext>
                </a:extLst>
              </p:cNvPr>
              <p:cNvSpPr/>
              <p:nvPr/>
            </p:nvSpPr>
            <p:spPr>
              <a:xfrm>
                <a:off x="7635240" y="2468880"/>
                <a:ext cx="3749040" cy="5029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250" dirty="0">
                    <a:solidFill>
                      <a:srgbClr val="B8B4AC"/>
                    </a:solidFill>
                    <a:latin typeface="Arial" pitchFamily="34" charset="0"/>
                    <a:ea typeface="Arial" pitchFamily="34" charset="-122"/>
                    <a:cs typeface="Arial" pitchFamily="34" charset="-120"/>
                  </a:rPr>
                  <a:t>Problema, revisão da app e requisitos</a:t>
                </a:r>
                <a:endParaRPr lang="en-US" sz="1250" dirty="0"/>
              </a:p>
            </p:txBody>
          </p:sp>
        </p:grpSp>
      </p:grpSp>
      <p:grpSp>
        <p:nvGrpSpPr>
          <p:cNvPr id="6" name="Agrupar 5">
            <a:extLst>
              <a:ext uri="{FF2B5EF4-FFF2-40B4-BE49-F238E27FC236}">
                <a16:creationId xmlns:a16="http://schemas.microsoft.com/office/drawing/2014/main" id="{8B1F7CE4-9A36-6FB6-5ACB-716732DFB3A0}"/>
              </a:ext>
            </a:extLst>
          </p:cNvPr>
          <p:cNvGrpSpPr/>
          <p:nvPr/>
        </p:nvGrpSpPr>
        <p:grpSpPr>
          <a:xfrm>
            <a:off x="986377" y="2846599"/>
            <a:ext cx="4785935" cy="1097280"/>
            <a:chOff x="640080" y="3291839"/>
            <a:chExt cx="5257800" cy="1371600"/>
          </a:xfrm>
        </p:grpSpPr>
        <p:sp>
          <p:nvSpPr>
            <p:cNvPr id="55" name="Shape 10">
              <a:extLst>
                <a:ext uri="{FF2B5EF4-FFF2-40B4-BE49-F238E27FC236}">
                  <a16:creationId xmlns:a16="http://schemas.microsoft.com/office/drawing/2014/main" id="{D92F79B4-2B85-43F1-AF80-24F76CAAB085}"/>
                </a:ext>
              </a:extLst>
            </p:cNvPr>
            <p:cNvSpPr/>
            <p:nvPr/>
          </p:nvSpPr>
          <p:spPr>
            <a:xfrm>
              <a:off x="640080" y="3291839"/>
              <a:ext cx="5257800" cy="1371600"/>
            </a:xfrm>
            <a:prstGeom prst="roundRect">
              <a:avLst>
                <a:gd name="adj" fmla="val 8000"/>
              </a:avLst>
            </a:prstGeom>
            <a:solidFill>
              <a:srgbClr val="2F2D2A"/>
            </a:solidFill>
            <a:ln/>
          </p:spPr>
          <p:txBody>
            <a:bodyPr/>
            <a:lstStyle/>
            <a:p>
              <a:endParaRPr lang="pt-PT"/>
            </a:p>
          </p:txBody>
        </p:sp>
        <p:sp>
          <p:nvSpPr>
            <p:cNvPr id="57" name="Text 11">
              <a:extLst>
                <a:ext uri="{FF2B5EF4-FFF2-40B4-BE49-F238E27FC236}">
                  <a16:creationId xmlns:a16="http://schemas.microsoft.com/office/drawing/2014/main" id="{AB18785C-5962-0E6B-77AE-758AE5CD4202}"/>
                </a:ext>
              </a:extLst>
            </p:cNvPr>
            <p:cNvSpPr/>
            <p:nvPr/>
          </p:nvSpPr>
          <p:spPr>
            <a:xfrm>
              <a:off x="868680" y="3456432"/>
              <a:ext cx="1188720" cy="914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3400" b="1" dirty="0">
                  <a:solidFill>
                    <a:srgbClr val="FFBD4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03</a:t>
              </a:r>
              <a:endParaRPr lang="en-US" sz="3400" dirty="0"/>
            </a:p>
          </p:txBody>
        </p:sp>
        <p:sp>
          <p:nvSpPr>
            <p:cNvPr id="59" name="Text 12">
              <a:extLst>
                <a:ext uri="{FF2B5EF4-FFF2-40B4-BE49-F238E27FC236}">
                  <a16:creationId xmlns:a16="http://schemas.microsoft.com/office/drawing/2014/main" id="{45B84904-29C1-7C22-E2A6-1544A8995C63}"/>
                </a:ext>
              </a:extLst>
            </p:cNvPr>
            <p:cNvSpPr/>
            <p:nvPr/>
          </p:nvSpPr>
          <p:spPr>
            <a:xfrm>
              <a:off x="2011680" y="3511296"/>
              <a:ext cx="374904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7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Desenho de Interface</a:t>
              </a:r>
              <a:endParaRPr lang="en-US" sz="1700" dirty="0"/>
            </a:p>
          </p:txBody>
        </p:sp>
        <p:sp>
          <p:nvSpPr>
            <p:cNvPr id="61" name="Text 13">
              <a:extLst>
                <a:ext uri="{FF2B5EF4-FFF2-40B4-BE49-F238E27FC236}">
                  <a16:creationId xmlns:a16="http://schemas.microsoft.com/office/drawing/2014/main" id="{03150B6B-E1F6-A3C2-50CA-4C299824C6F0}"/>
                </a:ext>
              </a:extLst>
            </p:cNvPr>
            <p:cNvSpPr/>
            <p:nvPr/>
          </p:nvSpPr>
          <p:spPr>
            <a:xfrm>
              <a:off x="2011680" y="4005072"/>
              <a:ext cx="374904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50" dirty="0">
                  <a:solidFill>
                    <a:srgbClr val="B8B4A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UX, benchmarking e usabilidade</a:t>
              </a:r>
              <a:endParaRPr lang="en-US" sz="1250" dirty="0"/>
            </a:p>
          </p:txBody>
        </p:sp>
      </p:grpSp>
      <p:grpSp>
        <p:nvGrpSpPr>
          <p:cNvPr id="7" name="Agrupar 6">
            <a:extLst>
              <a:ext uri="{FF2B5EF4-FFF2-40B4-BE49-F238E27FC236}">
                <a16:creationId xmlns:a16="http://schemas.microsoft.com/office/drawing/2014/main" id="{D9D28FF9-DC8C-D731-DFE8-874E0635BF08}"/>
              </a:ext>
            </a:extLst>
          </p:cNvPr>
          <p:cNvGrpSpPr/>
          <p:nvPr/>
        </p:nvGrpSpPr>
        <p:grpSpPr>
          <a:xfrm>
            <a:off x="6270139" y="2846599"/>
            <a:ext cx="4755169" cy="1113326"/>
            <a:chOff x="6263640" y="3291840"/>
            <a:chExt cx="5257800" cy="1371600"/>
          </a:xfrm>
        </p:grpSpPr>
        <p:sp>
          <p:nvSpPr>
            <p:cNvPr id="63" name="Shape 14">
              <a:extLst>
                <a:ext uri="{FF2B5EF4-FFF2-40B4-BE49-F238E27FC236}">
                  <a16:creationId xmlns:a16="http://schemas.microsoft.com/office/drawing/2014/main" id="{15E764D7-AF4E-89E1-AE42-5E32FD5D7E8C}"/>
                </a:ext>
              </a:extLst>
            </p:cNvPr>
            <p:cNvSpPr/>
            <p:nvPr/>
          </p:nvSpPr>
          <p:spPr>
            <a:xfrm>
              <a:off x="6263640" y="3291840"/>
              <a:ext cx="5257800" cy="1371600"/>
            </a:xfrm>
            <a:prstGeom prst="roundRect">
              <a:avLst>
                <a:gd name="adj" fmla="val 8000"/>
              </a:avLst>
            </a:prstGeom>
            <a:solidFill>
              <a:srgbClr val="2F2D2A"/>
            </a:solidFill>
            <a:ln/>
          </p:spPr>
          <p:txBody>
            <a:bodyPr/>
            <a:lstStyle/>
            <a:p>
              <a:endParaRPr lang="pt-PT"/>
            </a:p>
          </p:txBody>
        </p:sp>
        <p:sp>
          <p:nvSpPr>
            <p:cNvPr id="65" name="Text 15">
              <a:extLst>
                <a:ext uri="{FF2B5EF4-FFF2-40B4-BE49-F238E27FC236}">
                  <a16:creationId xmlns:a16="http://schemas.microsoft.com/office/drawing/2014/main" id="{1D383C7B-CEA5-D34A-86B0-3D679A37C7AF}"/>
                </a:ext>
              </a:extLst>
            </p:cNvPr>
            <p:cNvSpPr/>
            <p:nvPr/>
          </p:nvSpPr>
          <p:spPr>
            <a:xfrm>
              <a:off x="6492240" y="3456432"/>
              <a:ext cx="1188720" cy="914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3400" b="1" dirty="0">
                  <a:solidFill>
                    <a:srgbClr val="FFBD4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04</a:t>
              </a:r>
              <a:endParaRPr lang="en-US" sz="3400" dirty="0"/>
            </a:p>
          </p:txBody>
        </p:sp>
        <p:sp>
          <p:nvSpPr>
            <p:cNvPr id="67" name="Text 16">
              <a:extLst>
                <a:ext uri="{FF2B5EF4-FFF2-40B4-BE49-F238E27FC236}">
                  <a16:creationId xmlns:a16="http://schemas.microsoft.com/office/drawing/2014/main" id="{D19B0E67-DA5B-7D87-4150-F55185794833}"/>
                </a:ext>
              </a:extLst>
            </p:cNvPr>
            <p:cNvSpPr/>
            <p:nvPr/>
          </p:nvSpPr>
          <p:spPr>
            <a:xfrm>
              <a:off x="7635240" y="3511296"/>
              <a:ext cx="374904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7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Arquitetura &amp; Dados</a:t>
              </a:r>
              <a:endParaRPr lang="en-US" sz="1700" dirty="0"/>
            </a:p>
          </p:txBody>
        </p:sp>
        <p:sp>
          <p:nvSpPr>
            <p:cNvPr id="69" name="Text 17">
              <a:extLst>
                <a:ext uri="{FF2B5EF4-FFF2-40B4-BE49-F238E27FC236}">
                  <a16:creationId xmlns:a16="http://schemas.microsoft.com/office/drawing/2014/main" id="{30AB2A5E-1808-8D27-5011-7BA41CD7522B}"/>
                </a:ext>
              </a:extLst>
            </p:cNvPr>
            <p:cNvSpPr/>
            <p:nvPr/>
          </p:nvSpPr>
          <p:spPr>
            <a:xfrm>
              <a:off x="7635240" y="4005072"/>
              <a:ext cx="374904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50" dirty="0">
                  <a:solidFill>
                    <a:srgbClr val="B8B4A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MVVM, DAO/DTO e base de dados</a:t>
              </a:r>
              <a:endParaRPr lang="en-US" sz="1250" dirty="0"/>
            </a:p>
          </p:txBody>
        </p:sp>
      </p:grpSp>
      <p:grpSp>
        <p:nvGrpSpPr>
          <p:cNvPr id="5" name="Agrupar 4">
            <a:extLst>
              <a:ext uri="{FF2B5EF4-FFF2-40B4-BE49-F238E27FC236}">
                <a16:creationId xmlns:a16="http://schemas.microsoft.com/office/drawing/2014/main" id="{A02142A7-E003-53F8-40D7-5EDF3A165097}"/>
              </a:ext>
            </a:extLst>
          </p:cNvPr>
          <p:cNvGrpSpPr/>
          <p:nvPr/>
        </p:nvGrpSpPr>
        <p:grpSpPr>
          <a:xfrm>
            <a:off x="986377" y="4025161"/>
            <a:ext cx="4755169" cy="1111873"/>
            <a:chOff x="640080" y="4828032"/>
            <a:chExt cx="5257800" cy="1371600"/>
          </a:xfrm>
        </p:grpSpPr>
        <p:sp>
          <p:nvSpPr>
            <p:cNvPr id="71" name="Shape 18">
              <a:extLst>
                <a:ext uri="{FF2B5EF4-FFF2-40B4-BE49-F238E27FC236}">
                  <a16:creationId xmlns:a16="http://schemas.microsoft.com/office/drawing/2014/main" id="{6C78B82A-0505-C4F8-AF4E-F92CDDBAD1D3}"/>
                </a:ext>
              </a:extLst>
            </p:cNvPr>
            <p:cNvSpPr/>
            <p:nvPr/>
          </p:nvSpPr>
          <p:spPr>
            <a:xfrm>
              <a:off x="640080" y="4828032"/>
              <a:ext cx="5257800" cy="1371600"/>
            </a:xfrm>
            <a:prstGeom prst="roundRect">
              <a:avLst>
                <a:gd name="adj" fmla="val 8000"/>
              </a:avLst>
            </a:prstGeom>
            <a:solidFill>
              <a:srgbClr val="2F2D2A"/>
            </a:solidFill>
            <a:ln/>
          </p:spPr>
          <p:txBody>
            <a:bodyPr/>
            <a:lstStyle/>
            <a:p>
              <a:endParaRPr lang="pt-PT"/>
            </a:p>
          </p:txBody>
        </p:sp>
        <p:sp>
          <p:nvSpPr>
            <p:cNvPr id="73" name="Text 19">
              <a:extLst>
                <a:ext uri="{FF2B5EF4-FFF2-40B4-BE49-F238E27FC236}">
                  <a16:creationId xmlns:a16="http://schemas.microsoft.com/office/drawing/2014/main" id="{EC77179F-9F6E-5C8F-CA3C-53984B28D1F6}"/>
                </a:ext>
              </a:extLst>
            </p:cNvPr>
            <p:cNvSpPr/>
            <p:nvPr/>
          </p:nvSpPr>
          <p:spPr>
            <a:xfrm>
              <a:off x="868680" y="4992624"/>
              <a:ext cx="1188720" cy="914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3400" b="1" dirty="0">
                  <a:solidFill>
                    <a:srgbClr val="FFBD4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05</a:t>
              </a:r>
              <a:endParaRPr lang="en-US" sz="3400" dirty="0"/>
            </a:p>
          </p:txBody>
        </p:sp>
        <p:sp>
          <p:nvSpPr>
            <p:cNvPr id="75" name="Text 20">
              <a:extLst>
                <a:ext uri="{FF2B5EF4-FFF2-40B4-BE49-F238E27FC236}">
                  <a16:creationId xmlns:a16="http://schemas.microsoft.com/office/drawing/2014/main" id="{1F3CD589-7CE7-B280-364C-D010485D76D6}"/>
                </a:ext>
              </a:extLst>
            </p:cNvPr>
            <p:cNvSpPr/>
            <p:nvPr/>
          </p:nvSpPr>
          <p:spPr>
            <a:xfrm>
              <a:off x="2011680" y="5047488"/>
              <a:ext cx="374904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7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Testes &amp; Website</a:t>
              </a:r>
              <a:endParaRPr lang="en-US" sz="1700" dirty="0"/>
            </a:p>
          </p:txBody>
        </p:sp>
        <p:sp>
          <p:nvSpPr>
            <p:cNvPr id="77" name="Text 21">
              <a:extLst>
                <a:ext uri="{FF2B5EF4-FFF2-40B4-BE49-F238E27FC236}">
                  <a16:creationId xmlns:a16="http://schemas.microsoft.com/office/drawing/2014/main" id="{91B4CCE6-86EB-9165-56C6-5D9B7B3AFD0D}"/>
                </a:ext>
              </a:extLst>
            </p:cNvPr>
            <p:cNvSpPr/>
            <p:nvPr/>
          </p:nvSpPr>
          <p:spPr>
            <a:xfrm>
              <a:off x="2011680" y="5541264"/>
              <a:ext cx="374904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50" dirty="0">
                  <a:solidFill>
                    <a:srgbClr val="B8B4A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Testes de usabilidade e página web</a:t>
              </a:r>
              <a:endParaRPr lang="en-US" sz="1250" dirty="0"/>
            </a:p>
          </p:txBody>
        </p:sp>
      </p:grpSp>
      <p:grpSp>
        <p:nvGrpSpPr>
          <p:cNvPr id="4" name="Agrupar 3">
            <a:extLst>
              <a:ext uri="{FF2B5EF4-FFF2-40B4-BE49-F238E27FC236}">
                <a16:creationId xmlns:a16="http://schemas.microsoft.com/office/drawing/2014/main" id="{9BD141E4-DFCC-D998-D7C4-BDEF8C8448DC}"/>
              </a:ext>
            </a:extLst>
          </p:cNvPr>
          <p:cNvGrpSpPr/>
          <p:nvPr/>
        </p:nvGrpSpPr>
        <p:grpSpPr>
          <a:xfrm>
            <a:off x="6270138" y="4039754"/>
            <a:ext cx="4755169" cy="1097280"/>
            <a:chOff x="6263640" y="4828032"/>
            <a:chExt cx="5257800" cy="1371600"/>
          </a:xfrm>
        </p:grpSpPr>
        <p:sp>
          <p:nvSpPr>
            <p:cNvPr id="79" name="Shape 22">
              <a:extLst>
                <a:ext uri="{FF2B5EF4-FFF2-40B4-BE49-F238E27FC236}">
                  <a16:creationId xmlns:a16="http://schemas.microsoft.com/office/drawing/2014/main" id="{5E8E9EE4-582B-F3E6-7BE8-C36945599B53}"/>
                </a:ext>
              </a:extLst>
            </p:cNvPr>
            <p:cNvSpPr/>
            <p:nvPr/>
          </p:nvSpPr>
          <p:spPr>
            <a:xfrm>
              <a:off x="6263640" y="4828032"/>
              <a:ext cx="5257800" cy="1371600"/>
            </a:xfrm>
            <a:prstGeom prst="roundRect">
              <a:avLst>
                <a:gd name="adj" fmla="val 8000"/>
              </a:avLst>
            </a:prstGeom>
            <a:solidFill>
              <a:srgbClr val="2F2D2A"/>
            </a:solidFill>
            <a:ln/>
          </p:spPr>
          <p:txBody>
            <a:bodyPr/>
            <a:lstStyle/>
            <a:p>
              <a:endParaRPr lang="pt-PT"/>
            </a:p>
          </p:txBody>
        </p:sp>
        <p:sp>
          <p:nvSpPr>
            <p:cNvPr id="81" name="Text 23">
              <a:extLst>
                <a:ext uri="{FF2B5EF4-FFF2-40B4-BE49-F238E27FC236}">
                  <a16:creationId xmlns:a16="http://schemas.microsoft.com/office/drawing/2014/main" id="{A5D19EF3-C51F-B9AB-CD1F-94882CC08BEE}"/>
                </a:ext>
              </a:extLst>
            </p:cNvPr>
            <p:cNvSpPr/>
            <p:nvPr/>
          </p:nvSpPr>
          <p:spPr>
            <a:xfrm>
              <a:off x="6492240" y="4992624"/>
              <a:ext cx="1188720" cy="914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3400" b="1" dirty="0">
                  <a:solidFill>
                    <a:srgbClr val="FFBD4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06</a:t>
              </a:r>
              <a:endParaRPr lang="en-US" sz="3400" dirty="0"/>
            </a:p>
          </p:txBody>
        </p:sp>
        <p:sp>
          <p:nvSpPr>
            <p:cNvPr id="83" name="Text 24">
              <a:extLst>
                <a:ext uri="{FF2B5EF4-FFF2-40B4-BE49-F238E27FC236}">
                  <a16:creationId xmlns:a16="http://schemas.microsoft.com/office/drawing/2014/main" id="{D01FFBBA-F399-AB02-7E46-2B283ACD2425}"/>
                </a:ext>
              </a:extLst>
            </p:cNvPr>
            <p:cNvSpPr/>
            <p:nvPr/>
          </p:nvSpPr>
          <p:spPr>
            <a:xfrm>
              <a:off x="7635240" y="5047488"/>
              <a:ext cx="374904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7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Demonstração Do Site</a:t>
              </a:r>
              <a:endParaRPr lang="en-US" sz="1700" dirty="0"/>
            </a:p>
          </p:txBody>
        </p:sp>
        <p:sp>
          <p:nvSpPr>
            <p:cNvPr id="85" name="Text 25">
              <a:extLst>
                <a:ext uri="{FF2B5EF4-FFF2-40B4-BE49-F238E27FC236}">
                  <a16:creationId xmlns:a16="http://schemas.microsoft.com/office/drawing/2014/main" id="{40DC7C97-DA0B-8AAC-4CE1-D6C49A2B72FD}"/>
                </a:ext>
              </a:extLst>
            </p:cNvPr>
            <p:cNvSpPr/>
            <p:nvPr/>
          </p:nvSpPr>
          <p:spPr>
            <a:xfrm>
              <a:off x="7635240" y="5541264"/>
              <a:ext cx="374904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50" dirty="0">
                  <a:solidFill>
                    <a:srgbClr val="B8B4A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Site</a:t>
              </a:r>
              <a:endParaRPr lang="en-US" sz="1250" dirty="0"/>
            </a:p>
          </p:txBody>
        </p:sp>
      </p:grpSp>
      <p:pic>
        <p:nvPicPr>
          <p:cNvPr id="87" name="Image 0" descr="assets/logo.png">
            <a:extLst>
              <a:ext uri="{FF2B5EF4-FFF2-40B4-BE49-F238E27FC236}">
                <a16:creationId xmlns:a16="http://schemas.microsoft.com/office/drawing/2014/main" id="{5A2415A1-7F46-07CD-097E-F5885780FE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8065" y="6011516"/>
            <a:ext cx="1188147" cy="964774"/>
          </a:xfrm>
          <a:prstGeom prst="rect">
            <a:avLst/>
          </a:prstGeom>
        </p:spPr>
      </p:pic>
      <p:grpSp>
        <p:nvGrpSpPr>
          <p:cNvPr id="13" name="Agrupar 12">
            <a:extLst>
              <a:ext uri="{FF2B5EF4-FFF2-40B4-BE49-F238E27FC236}">
                <a16:creationId xmlns:a16="http://schemas.microsoft.com/office/drawing/2014/main" id="{978438C5-7A2A-F41A-AC6B-319FCB44BD04}"/>
              </a:ext>
            </a:extLst>
          </p:cNvPr>
          <p:cNvGrpSpPr/>
          <p:nvPr/>
        </p:nvGrpSpPr>
        <p:grpSpPr>
          <a:xfrm>
            <a:off x="986376" y="5215967"/>
            <a:ext cx="4755169" cy="1111873"/>
            <a:chOff x="640080" y="4828031"/>
            <a:chExt cx="5257800" cy="1371599"/>
          </a:xfrm>
        </p:grpSpPr>
        <p:sp>
          <p:nvSpPr>
            <p:cNvPr id="14" name="Shape 18">
              <a:extLst>
                <a:ext uri="{FF2B5EF4-FFF2-40B4-BE49-F238E27FC236}">
                  <a16:creationId xmlns:a16="http://schemas.microsoft.com/office/drawing/2014/main" id="{E552A54F-F107-6DB9-8B03-6B6D0F6690E8}"/>
                </a:ext>
              </a:extLst>
            </p:cNvPr>
            <p:cNvSpPr/>
            <p:nvPr/>
          </p:nvSpPr>
          <p:spPr>
            <a:xfrm>
              <a:off x="640080" y="4828031"/>
              <a:ext cx="5257800" cy="1371599"/>
            </a:xfrm>
            <a:prstGeom prst="roundRect">
              <a:avLst>
                <a:gd name="adj" fmla="val 8000"/>
              </a:avLst>
            </a:prstGeom>
            <a:solidFill>
              <a:srgbClr val="2F2D2A"/>
            </a:solidFill>
            <a:ln/>
          </p:spPr>
          <p:txBody>
            <a:bodyPr/>
            <a:lstStyle/>
            <a:p>
              <a:endParaRPr lang="pt-PT" dirty="0"/>
            </a:p>
          </p:txBody>
        </p:sp>
        <p:sp>
          <p:nvSpPr>
            <p:cNvPr id="15" name="Text 19">
              <a:extLst>
                <a:ext uri="{FF2B5EF4-FFF2-40B4-BE49-F238E27FC236}">
                  <a16:creationId xmlns:a16="http://schemas.microsoft.com/office/drawing/2014/main" id="{956982F6-6192-0264-C3B7-15CAD1902221}"/>
                </a:ext>
              </a:extLst>
            </p:cNvPr>
            <p:cNvSpPr/>
            <p:nvPr/>
          </p:nvSpPr>
          <p:spPr>
            <a:xfrm>
              <a:off x="868680" y="4992624"/>
              <a:ext cx="1188720" cy="914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3400" b="1" dirty="0">
                  <a:solidFill>
                    <a:srgbClr val="FFBD4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07</a:t>
              </a:r>
              <a:endParaRPr lang="en-US" sz="3400" dirty="0"/>
            </a:p>
          </p:txBody>
        </p:sp>
        <p:sp>
          <p:nvSpPr>
            <p:cNvPr id="16" name="Text 20">
              <a:extLst>
                <a:ext uri="{FF2B5EF4-FFF2-40B4-BE49-F238E27FC236}">
                  <a16:creationId xmlns:a16="http://schemas.microsoft.com/office/drawing/2014/main" id="{161D92FA-E4F1-CA30-57CE-09A6EF9347BD}"/>
                </a:ext>
              </a:extLst>
            </p:cNvPr>
            <p:cNvSpPr/>
            <p:nvPr/>
          </p:nvSpPr>
          <p:spPr>
            <a:xfrm>
              <a:off x="2011680" y="5047488"/>
              <a:ext cx="374904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7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Demonstração Da App</a:t>
              </a:r>
              <a:endParaRPr lang="en-US" sz="1700" dirty="0"/>
            </a:p>
          </p:txBody>
        </p:sp>
        <p:sp>
          <p:nvSpPr>
            <p:cNvPr id="17" name="Text 21">
              <a:extLst>
                <a:ext uri="{FF2B5EF4-FFF2-40B4-BE49-F238E27FC236}">
                  <a16:creationId xmlns:a16="http://schemas.microsoft.com/office/drawing/2014/main" id="{DD91FD29-BEE8-5584-EF59-39BC4F856A98}"/>
                </a:ext>
              </a:extLst>
            </p:cNvPr>
            <p:cNvSpPr/>
            <p:nvPr/>
          </p:nvSpPr>
          <p:spPr>
            <a:xfrm>
              <a:off x="2011680" y="5541264"/>
              <a:ext cx="374904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50" dirty="0">
                  <a:solidFill>
                    <a:srgbClr val="B8B4A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Aplicação Móvel</a:t>
              </a:r>
              <a:endParaRPr lang="en-US" sz="1250" dirty="0"/>
            </a:p>
          </p:txBody>
        </p:sp>
      </p:grp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1E3BDC91-5912-2B8E-2A0F-C92B8B5F1F8A}"/>
              </a:ext>
            </a:extLst>
          </p:cNvPr>
          <p:cNvGrpSpPr/>
          <p:nvPr/>
        </p:nvGrpSpPr>
        <p:grpSpPr>
          <a:xfrm>
            <a:off x="6289312" y="5215966"/>
            <a:ext cx="4755169" cy="1111873"/>
            <a:chOff x="640080" y="4828031"/>
            <a:chExt cx="5257800" cy="1371599"/>
          </a:xfrm>
        </p:grpSpPr>
        <p:sp>
          <p:nvSpPr>
            <p:cNvPr id="19" name="Shape 18">
              <a:extLst>
                <a:ext uri="{FF2B5EF4-FFF2-40B4-BE49-F238E27FC236}">
                  <a16:creationId xmlns:a16="http://schemas.microsoft.com/office/drawing/2014/main" id="{DD0DD673-1EA8-BD3A-A3D1-7A2C3EC0592D}"/>
                </a:ext>
              </a:extLst>
            </p:cNvPr>
            <p:cNvSpPr/>
            <p:nvPr/>
          </p:nvSpPr>
          <p:spPr>
            <a:xfrm>
              <a:off x="640080" y="4828031"/>
              <a:ext cx="5257800" cy="1371599"/>
            </a:xfrm>
            <a:prstGeom prst="roundRect">
              <a:avLst>
                <a:gd name="adj" fmla="val 8000"/>
              </a:avLst>
            </a:prstGeom>
            <a:solidFill>
              <a:srgbClr val="2F2D2A"/>
            </a:solidFill>
            <a:ln/>
          </p:spPr>
          <p:txBody>
            <a:bodyPr/>
            <a:lstStyle/>
            <a:p>
              <a:endParaRPr lang="pt-PT" dirty="0"/>
            </a:p>
          </p:txBody>
        </p:sp>
        <p:sp>
          <p:nvSpPr>
            <p:cNvPr id="20" name="Text 19">
              <a:extLst>
                <a:ext uri="{FF2B5EF4-FFF2-40B4-BE49-F238E27FC236}">
                  <a16:creationId xmlns:a16="http://schemas.microsoft.com/office/drawing/2014/main" id="{3DCE2FAA-59F1-4F5F-1AF1-F65F16C8A552}"/>
                </a:ext>
              </a:extLst>
            </p:cNvPr>
            <p:cNvSpPr/>
            <p:nvPr/>
          </p:nvSpPr>
          <p:spPr>
            <a:xfrm>
              <a:off x="868680" y="4992624"/>
              <a:ext cx="1188720" cy="914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3400" b="1" dirty="0">
                  <a:solidFill>
                    <a:srgbClr val="FFBD49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08</a:t>
              </a:r>
              <a:endParaRPr lang="en-US" sz="3400" dirty="0"/>
            </a:p>
          </p:txBody>
        </p:sp>
        <p:sp>
          <p:nvSpPr>
            <p:cNvPr id="21" name="Text 20">
              <a:extLst>
                <a:ext uri="{FF2B5EF4-FFF2-40B4-BE49-F238E27FC236}">
                  <a16:creationId xmlns:a16="http://schemas.microsoft.com/office/drawing/2014/main" id="{6FBA71F6-7867-DC9E-A69B-CA44B9B932C9}"/>
                </a:ext>
              </a:extLst>
            </p:cNvPr>
            <p:cNvSpPr/>
            <p:nvPr/>
          </p:nvSpPr>
          <p:spPr>
            <a:xfrm>
              <a:off x="2011680" y="5047488"/>
              <a:ext cx="374904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7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Conclusão</a:t>
              </a:r>
              <a:endParaRPr lang="en-US" sz="1700" dirty="0"/>
            </a:p>
          </p:txBody>
        </p:sp>
        <p:sp>
          <p:nvSpPr>
            <p:cNvPr id="22" name="Text 21">
              <a:extLst>
                <a:ext uri="{FF2B5EF4-FFF2-40B4-BE49-F238E27FC236}">
                  <a16:creationId xmlns:a16="http://schemas.microsoft.com/office/drawing/2014/main" id="{F9D51901-0645-EF9B-5901-749A476E1DB5}"/>
                </a:ext>
              </a:extLst>
            </p:cNvPr>
            <p:cNvSpPr/>
            <p:nvPr/>
          </p:nvSpPr>
          <p:spPr>
            <a:xfrm>
              <a:off x="2011680" y="5541264"/>
              <a:ext cx="374904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50" dirty="0">
                  <a:solidFill>
                    <a:srgbClr val="B8B4A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Resultados e próximos passos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9ED847-76D0-D4D9-3EC8-1368DCDCF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0">
            <a:extLst>
              <a:ext uri="{FF2B5EF4-FFF2-40B4-BE49-F238E27FC236}">
                <a16:creationId xmlns:a16="http://schemas.microsoft.com/office/drawing/2014/main" id="{59CA09A9-C3DA-DDA3-72E3-3A4347CCA8DD}"/>
              </a:ext>
            </a:extLst>
          </p:cNvPr>
          <p:cNvSpPr/>
          <p:nvPr/>
        </p:nvSpPr>
        <p:spPr>
          <a:xfrm>
            <a:off x="640080" y="2651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BD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CAPÍTULO 01</a:t>
            </a:r>
            <a:endParaRPr lang="en-US" sz="1300" dirty="0"/>
          </a:p>
        </p:txBody>
      </p:sp>
      <p:sp>
        <p:nvSpPr>
          <p:cNvPr id="25" name="Text 1">
            <a:extLst>
              <a:ext uri="{FF2B5EF4-FFF2-40B4-BE49-F238E27FC236}">
                <a16:creationId xmlns:a16="http://schemas.microsoft.com/office/drawing/2014/main" id="{DBE7B26C-B06F-C3D9-D334-FFD198ADE06B}"/>
              </a:ext>
            </a:extLst>
          </p:cNvPr>
          <p:cNvSpPr/>
          <p:nvPr/>
        </p:nvSpPr>
        <p:spPr>
          <a:xfrm>
            <a:off x="594360" y="3017520"/>
            <a:ext cx="8229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Introdução &amp;</a:t>
            </a:r>
            <a:endParaRPr lang="en-US" sz="4600" dirty="0"/>
          </a:p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Equipa</a:t>
            </a:r>
            <a:endParaRPr lang="en-US" sz="4600" dirty="0"/>
          </a:p>
        </p:txBody>
      </p:sp>
      <p:sp>
        <p:nvSpPr>
          <p:cNvPr id="30" name="Text 2">
            <a:extLst>
              <a:ext uri="{FF2B5EF4-FFF2-40B4-BE49-F238E27FC236}">
                <a16:creationId xmlns:a16="http://schemas.microsoft.com/office/drawing/2014/main" id="{1691409E-1633-B1B4-A1C5-0B7E396CAC27}"/>
              </a:ext>
            </a:extLst>
          </p:cNvPr>
          <p:cNvSpPr/>
          <p:nvPr/>
        </p:nvSpPr>
        <p:spPr>
          <a:xfrm>
            <a:off x="9811512" y="502920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0" dirty="0"/>
          </a:p>
        </p:txBody>
      </p:sp>
      <p:sp>
        <p:nvSpPr>
          <p:cNvPr id="35" name="Text 3">
            <a:extLst>
              <a:ext uri="{FF2B5EF4-FFF2-40B4-BE49-F238E27FC236}">
                <a16:creationId xmlns:a16="http://schemas.microsoft.com/office/drawing/2014/main" id="{69F7DFAE-3FC5-D771-AC8E-23216D32BD8B}"/>
              </a:ext>
            </a:extLst>
          </p:cNvPr>
          <p:cNvSpPr/>
          <p:nvPr/>
        </p:nvSpPr>
        <p:spPr>
          <a:xfrm>
            <a:off x="914400" y="63276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D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Meca </a:t>
            </a: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Móveis</a:t>
            </a:r>
            <a:endParaRPr lang="en-US" sz="1100" dirty="0"/>
          </a:p>
        </p:txBody>
      </p:sp>
      <p:sp>
        <p:nvSpPr>
          <p:cNvPr id="37" name="Text 4">
            <a:extLst>
              <a:ext uri="{FF2B5EF4-FFF2-40B4-BE49-F238E27FC236}">
                <a16:creationId xmlns:a16="http://schemas.microsoft.com/office/drawing/2014/main" id="{D02AF512-A426-BF9A-8BFF-0619A871E727}"/>
              </a:ext>
            </a:extLst>
          </p:cNvPr>
          <p:cNvSpPr/>
          <p:nvPr/>
        </p:nvSpPr>
        <p:spPr>
          <a:xfrm>
            <a:off x="7251192" y="63276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Leandro Dionísio · Leandro Pinto · Filipe Viegas</a:t>
            </a:r>
            <a:endParaRPr lang="en-US" sz="1000" dirty="0"/>
          </a:p>
        </p:txBody>
      </p:sp>
      <p:pic>
        <p:nvPicPr>
          <p:cNvPr id="39" name="Image 0" descr="assets/logo.png">
            <a:extLst>
              <a:ext uri="{FF2B5EF4-FFF2-40B4-BE49-F238E27FC236}">
                <a16:creationId xmlns:a16="http://schemas.microsoft.com/office/drawing/2014/main" id="{71E396DE-EAE6-53D7-A5E7-6928967F1A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8065" y="6011516"/>
            <a:ext cx="1188147" cy="964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75697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0">
            <a:extLst>
              <a:ext uri="{FF2B5EF4-FFF2-40B4-BE49-F238E27FC236}">
                <a16:creationId xmlns:a16="http://schemas.microsoft.com/office/drawing/2014/main" id="{E611BDD3-3A60-BB71-568E-9CFCE37A32BB}"/>
              </a:ext>
            </a:extLst>
          </p:cNvPr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BD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</a:t>
            </a:r>
            <a:endParaRPr lang="en-US" sz="1300" dirty="0"/>
          </a:p>
        </p:txBody>
      </p:sp>
      <p:sp>
        <p:nvSpPr>
          <p:cNvPr id="11" name="Text 1">
            <a:extLst>
              <a:ext uri="{FF2B5EF4-FFF2-40B4-BE49-F238E27FC236}">
                <a16:creationId xmlns:a16="http://schemas.microsoft.com/office/drawing/2014/main" id="{134B0BB6-E0D1-6082-90DA-1EBAC7A775AF}"/>
              </a:ext>
            </a:extLst>
          </p:cNvPr>
          <p:cNvSpPr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Introdução</a:t>
            </a:r>
            <a:endParaRPr lang="en-US" sz="4000" dirty="0"/>
          </a:p>
        </p:txBody>
      </p:sp>
      <p:sp>
        <p:nvSpPr>
          <p:cNvPr id="13" name="Shape 2">
            <a:extLst>
              <a:ext uri="{FF2B5EF4-FFF2-40B4-BE49-F238E27FC236}">
                <a16:creationId xmlns:a16="http://schemas.microsoft.com/office/drawing/2014/main" id="{06F24960-5E25-826B-0C96-3BCCEEFC6105}"/>
              </a:ext>
            </a:extLst>
          </p:cNvPr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2667"/>
            </a:avLst>
          </a:prstGeom>
          <a:solidFill>
            <a:srgbClr val="2F2D2A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5" name="Text 3">
            <a:extLst>
              <a:ext uri="{FF2B5EF4-FFF2-40B4-BE49-F238E27FC236}">
                <a16:creationId xmlns:a16="http://schemas.microsoft.com/office/drawing/2014/main" id="{55DC3F7F-7562-7396-59CC-9337BFF758CA}"/>
              </a:ext>
            </a:extLst>
          </p:cNvPr>
          <p:cNvSpPr/>
          <p:nvPr/>
        </p:nvSpPr>
        <p:spPr>
          <a:xfrm>
            <a:off x="1005840" y="2194560"/>
            <a:ext cx="10149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Este relatório dá continuidade ao projeto iniciado na disciplina de Programação de Aplicação Desktop, agora desenvolvido em PALC — Programação de Aplicação no Lado do Cliente.</a:t>
            </a:r>
            <a:endParaRPr lang="en-US" sz="1600" dirty="0"/>
          </a:p>
        </p:txBody>
      </p:sp>
      <p:sp>
        <p:nvSpPr>
          <p:cNvPr id="17" name="Text 4">
            <a:extLst>
              <a:ext uri="{FF2B5EF4-FFF2-40B4-BE49-F238E27FC236}">
                <a16:creationId xmlns:a16="http://schemas.microsoft.com/office/drawing/2014/main" id="{8A8ED232-0207-8C40-4F12-B626C9D4BFC8}"/>
              </a:ext>
            </a:extLst>
          </p:cNvPr>
          <p:cNvSpPr/>
          <p:nvPr/>
        </p:nvSpPr>
        <p:spPr>
          <a:xfrm>
            <a:off x="1005840" y="3291840"/>
            <a:ext cx="10149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B8B4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Meca Móveis mantém o conceito de rastreio automóvel já validado, mas evolui de uma interface de linha de comandos para uma </a:t>
            </a:r>
            <a:r>
              <a:rPr lang="en-US" sz="1600" dirty="0" err="1">
                <a:solidFill>
                  <a:srgbClr val="B8B4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aplicação</a:t>
            </a:r>
            <a:r>
              <a:rPr lang="en-US" sz="1600" dirty="0">
                <a:solidFill>
                  <a:srgbClr val="B8B4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dirty="0" err="1">
                <a:solidFill>
                  <a:srgbClr val="B8B4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móvel</a:t>
            </a:r>
            <a:r>
              <a:rPr lang="en-US" sz="1600" dirty="0">
                <a:solidFill>
                  <a:srgbClr val="B8B4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completa, com interação gráfica, base de dados local e arquitetura MVVM.</a:t>
            </a:r>
            <a:endParaRPr lang="en-US" sz="1600" dirty="0"/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D13D43A1-1BFA-A039-FA9D-B66424A82CDF}"/>
              </a:ext>
            </a:extLst>
          </p:cNvPr>
          <p:cNvSpPr/>
          <p:nvPr/>
        </p:nvSpPr>
        <p:spPr>
          <a:xfrm>
            <a:off x="1005840" y="4434840"/>
            <a:ext cx="10149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B8B4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longo deste documento correlacionamos a ideia original com todo o processo de criação, desenho e implementação que se seguiu.</a:t>
            </a:r>
            <a:endParaRPr lang="en-US" sz="1600" dirty="0"/>
          </a:p>
        </p:txBody>
      </p:sp>
      <p:sp>
        <p:nvSpPr>
          <p:cNvPr id="23" name="Text 6">
            <a:extLst>
              <a:ext uri="{FF2B5EF4-FFF2-40B4-BE49-F238E27FC236}">
                <a16:creationId xmlns:a16="http://schemas.microsoft.com/office/drawing/2014/main" id="{9BEDE953-6E3E-FC9F-419C-32AF165B3684}"/>
              </a:ext>
            </a:extLst>
          </p:cNvPr>
          <p:cNvSpPr/>
          <p:nvPr/>
        </p:nvSpPr>
        <p:spPr>
          <a:xfrm>
            <a:off x="914400" y="63276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D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Meca </a:t>
            </a: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Móveis</a:t>
            </a:r>
            <a:endParaRPr lang="en-US" sz="1100" dirty="0"/>
          </a:p>
        </p:txBody>
      </p:sp>
      <p:sp>
        <p:nvSpPr>
          <p:cNvPr id="25" name="Text 7">
            <a:extLst>
              <a:ext uri="{FF2B5EF4-FFF2-40B4-BE49-F238E27FC236}">
                <a16:creationId xmlns:a16="http://schemas.microsoft.com/office/drawing/2014/main" id="{83C75B88-93B1-684F-AEF0-3A600ED3076E}"/>
              </a:ext>
            </a:extLst>
          </p:cNvPr>
          <p:cNvSpPr/>
          <p:nvPr/>
        </p:nvSpPr>
        <p:spPr>
          <a:xfrm>
            <a:off x="7251192" y="63276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Leandro Dionísio · Leandro Pinto · Filipe Viegas</a:t>
            </a:r>
            <a:endParaRPr lang="en-US" sz="1000" dirty="0"/>
          </a:p>
        </p:txBody>
      </p:sp>
      <p:pic>
        <p:nvPicPr>
          <p:cNvPr id="27" name="Image 0" descr="assets/logo.png">
            <a:extLst>
              <a:ext uri="{FF2B5EF4-FFF2-40B4-BE49-F238E27FC236}">
                <a16:creationId xmlns:a16="http://schemas.microsoft.com/office/drawing/2014/main" id="{3741E6D8-D094-D7D9-51D8-2683A8C571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8065" y="6011516"/>
            <a:ext cx="1188147" cy="96477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0">
            <a:extLst>
              <a:ext uri="{FF2B5EF4-FFF2-40B4-BE49-F238E27FC236}">
                <a16:creationId xmlns:a16="http://schemas.microsoft.com/office/drawing/2014/main" id="{F6115A8A-5E5A-F6E9-3732-33948F06653E}"/>
              </a:ext>
            </a:extLst>
          </p:cNvPr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BD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METODOLOGIA</a:t>
            </a:r>
            <a:endParaRPr lang="en-US" sz="1300" dirty="0"/>
          </a:p>
        </p:txBody>
      </p:sp>
      <p:sp>
        <p:nvSpPr>
          <p:cNvPr id="27" name="Text 1">
            <a:extLst>
              <a:ext uri="{FF2B5EF4-FFF2-40B4-BE49-F238E27FC236}">
                <a16:creationId xmlns:a16="http://schemas.microsoft.com/office/drawing/2014/main" id="{136741B5-3C62-D73D-DB4A-3B8DDC0E5C85}"/>
              </a:ext>
            </a:extLst>
          </p:cNvPr>
          <p:cNvSpPr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Organização do Trabalho</a:t>
            </a:r>
            <a:endParaRPr lang="en-US" sz="4000" dirty="0"/>
          </a:p>
        </p:txBody>
      </p:sp>
      <p:sp>
        <p:nvSpPr>
          <p:cNvPr id="29" name="Shape 2">
            <a:extLst>
              <a:ext uri="{FF2B5EF4-FFF2-40B4-BE49-F238E27FC236}">
                <a16:creationId xmlns:a16="http://schemas.microsoft.com/office/drawing/2014/main" id="{66819A1D-4BD0-2C7E-DB30-3DB17A0988AB}"/>
              </a:ext>
            </a:extLst>
          </p:cNvPr>
          <p:cNvSpPr/>
          <p:nvPr/>
        </p:nvSpPr>
        <p:spPr>
          <a:xfrm>
            <a:off x="640080" y="1828800"/>
            <a:ext cx="5120640" cy="4114800"/>
          </a:xfrm>
          <a:prstGeom prst="roundRect">
            <a:avLst>
              <a:gd name="adj" fmla="val 2667"/>
            </a:avLst>
          </a:prstGeom>
          <a:solidFill>
            <a:srgbClr val="2F2D2A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31" name="Text 3">
            <a:extLst>
              <a:ext uri="{FF2B5EF4-FFF2-40B4-BE49-F238E27FC236}">
                <a16:creationId xmlns:a16="http://schemas.microsoft.com/office/drawing/2014/main" id="{CF36E4EC-EAA0-8166-AB74-337E65545A02}"/>
              </a:ext>
            </a:extLst>
          </p:cNvPr>
          <p:cNvSpPr/>
          <p:nvPr/>
        </p:nvSpPr>
        <p:spPr>
          <a:xfrm>
            <a:off x="914400" y="2057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D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Ferramentas de Comunicação</a:t>
            </a:r>
            <a:endParaRPr lang="en-US" sz="1500" dirty="0"/>
          </a:p>
        </p:txBody>
      </p:sp>
      <p:sp>
        <p:nvSpPr>
          <p:cNvPr id="33" name="Shape 4">
            <a:extLst>
              <a:ext uri="{FF2B5EF4-FFF2-40B4-BE49-F238E27FC236}">
                <a16:creationId xmlns:a16="http://schemas.microsoft.com/office/drawing/2014/main" id="{1AE71B6A-7206-3C34-B0DC-908F1D55A355}"/>
              </a:ext>
            </a:extLst>
          </p:cNvPr>
          <p:cNvSpPr/>
          <p:nvPr/>
        </p:nvSpPr>
        <p:spPr>
          <a:xfrm>
            <a:off x="914400" y="2587752"/>
            <a:ext cx="118872" cy="118872"/>
          </a:xfrm>
          <a:prstGeom prst="ellipse">
            <a:avLst/>
          </a:prstGeom>
          <a:solidFill>
            <a:srgbClr val="FFBD49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35" name="Text 5">
            <a:extLst>
              <a:ext uri="{FF2B5EF4-FFF2-40B4-BE49-F238E27FC236}">
                <a16:creationId xmlns:a16="http://schemas.microsoft.com/office/drawing/2014/main" id="{5A450B60-432C-2116-3DD3-7C2B64C5D2D8}"/>
              </a:ext>
            </a:extLst>
          </p:cNvPr>
          <p:cNvSpPr/>
          <p:nvPr/>
        </p:nvSpPr>
        <p:spPr>
          <a:xfrm>
            <a:off x="1188720" y="2514600"/>
            <a:ext cx="4297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BD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Discord — </a:t>
            </a:r>
            <a:r>
              <a:rPr lang="en-US" sz="1250" dirty="0">
                <a:solidFill>
                  <a:srgbClr val="B8B4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centro de organização, canais e partilha de documentos</a:t>
            </a:r>
            <a:endParaRPr lang="en-US" sz="1250" dirty="0"/>
          </a:p>
        </p:txBody>
      </p:sp>
      <p:sp>
        <p:nvSpPr>
          <p:cNvPr id="37" name="Shape 6">
            <a:extLst>
              <a:ext uri="{FF2B5EF4-FFF2-40B4-BE49-F238E27FC236}">
                <a16:creationId xmlns:a16="http://schemas.microsoft.com/office/drawing/2014/main" id="{A23010EF-DC1A-0C43-ED86-AD026C27F7C9}"/>
              </a:ext>
            </a:extLst>
          </p:cNvPr>
          <p:cNvSpPr/>
          <p:nvPr/>
        </p:nvSpPr>
        <p:spPr>
          <a:xfrm>
            <a:off x="914400" y="3300984"/>
            <a:ext cx="118872" cy="118872"/>
          </a:xfrm>
          <a:prstGeom prst="ellipse">
            <a:avLst/>
          </a:prstGeom>
          <a:solidFill>
            <a:srgbClr val="FFBD49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39" name="Text 7">
            <a:extLst>
              <a:ext uri="{FF2B5EF4-FFF2-40B4-BE49-F238E27FC236}">
                <a16:creationId xmlns:a16="http://schemas.microsoft.com/office/drawing/2014/main" id="{9768AAED-192F-64ED-8098-1EAD47323EAC}"/>
              </a:ext>
            </a:extLst>
          </p:cNvPr>
          <p:cNvSpPr/>
          <p:nvPr/>
        </p:nvSpPr>
        <p:spPr>
          <a:xfrm>
            <a:off x="1188720" y="3227832"/>
            <a:ext cx="4297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BD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 — </a:t>
            </a:r>
            <a:r>
              <a:rPr lang="en-US" sz="1250" dirty="0">
                <a:solidFill>
                  <a:srgbClr val="B8B4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comunicação rápida do dia-a-dia</a:t>
            </a:r>
            <a:endParaRPr lang="en-US" sz="1250" dirty="0"/>
          </a:p>
        </p:txBody>
      </p:sp>
      <p:sp>
        <p:nvSpPr>
          <p:cNvPr id="41" name="Shape 8">
            <a:extLst>
              <a:ext uri="{FF2B5EF4-FFF2-40B4-BE49-F238E27FC236}">
                <a16:creationId xmlns:a16="http://schemas.microsoft.com/office/drawing/2014/main" id="{94217490-E322-0B30-278C-D29A4ED399D2}"/>
              </a:ext>
            </a:extLst>
          </p:cNvPr>
          <p:cNvSpPr/>
          <p:nvPr/>
        </p:nvSpPr>
        <p:spPr>
          <a:xfrm>
            <a:off x="914400" y="4014216"/>
            <a:ext cx="118872" cy="118872"/>
          </a:xfrm>
          <a:prstGeom prst="ellipse">
            <a:avLst/>
          </a:prstGeom>
          <a:solidFill>
            <a:srgbClr val="FFBD49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43" name="Text 9">
            <a:extLst>
              <a:ext uri="{FF2B5EF4-FFF2-40B4-BE49-F238E27FC236}">
                <a16:creationId xmlns:a16="http://schemas.microsoft.com/office/drawing/2014/main" id="{7FEA0CF4-E6B1-DF67-E0C4-788C69070B1E}"/>
              </a:ext>
            </a:extLst>
          </p:cNvPr>
          <p:cNvSpPr/>
          <p:nvPr/>
        </p:nvSpPr>
        <p:spPr>
          <a:xfrm>
            <a:off x="1188720" y="3941064"/>
            <a:ext cx="4297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BD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Figma / FigJam — </a:t>
            </a:r>
            <a:r>
              <a:rPr lang="en-US" sz="1250" dirty="0">
                <a:solidFill>
                  <a:srgbClr val="B8B4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desenho de ecrãs e brainstorming em conjunto</a:t>
            </a:r>
            <a:endParaRPr lang="en-US" sz="1250" dirty="0"/>
          </a:p>
        </p:txBody>
      </p:sp>
      <p:sp>
        <p:nvSpPr>
          <p:cNvPr id="45" name="Shape 10">
            <a:extLst>
              <a:ext uri="{FF2B5EF4-FFF2-40B4-BE49-F238E27FC236}">
                <a16:creationId xmlns:a16="http://schemas.microsoft.com/office/drawing/2014/main" id="{2423125E-212F-4F78-AEBB-0AA8F4B66A32}"/>
              </a:ext>
            </a:extLst>
          </p:cNvPr>
          <p:cNvSpPr/>
          <p:nvPr/>
        </p:nvSpPr>
        <p:spPr>
          <a:xfrm>
            <a:off x="914400" y="4727448"/>
            <a:ext cx="118872" cy="118872"/>
          </a:xfrm>
          <a:prstGeom prst="ellipse">
            <a:avLst/>
          </a:prstGeom>
          <a:solidFill>
            <a:srgbClr val="FFBD49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47" name="Text 11">
            <a:extLst>
              <a:ext uri="{FF2B5EF4-FFF2-40B4-BE49-F238E27FC236}">
                <a16:creationId xmlns:a16="http://schemas.microsoft.com/office/drawing/2014/main" id="{C309C9AD-82EB-09DE-656E-0F76EE2765B8}"/>
              </a:ext>
            </a:extLst>
          </p:cNvPr>
          <p:cNvSpPr/>
          <p:nvPr/>
        </p:nvSpPr>
        <p:spPr>
          <a:xfrm>
            <a:off x="1188720" y="4654296"/>
            <a:ext cx="4297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BD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— </a:t>
            </a:r>
            <a:r>
              <a:rPr lang="en-US" sz="1250" dirty="0">
                <a:solidFill>
                  <a:srgbClr val="B8B4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apoio a estruturas de UX e decisões de design</a:t>
            </a:r>
            <a:endParaRPr lang="en-US" sz="1250" dirty="0"/>
          </a:p>
        </p:txBody>
      </p:sp>
      <p:sp>
        <p:nvSpPr>
          <p:cNvPr id="49" name="Shape 12">
            <a:extLst>
              <a:ext uri="{FF2B5EF4-FFF2-40B4-BE49-F238E27FC236}">
                <a16:creationId xmlns:a16="http://schemas.microsoft.com/office/drawing/2014/main" id="{7C49E29E-0547-6F17-5DCB-ACCA7FAE00C8}"/>
              </a:ext>
            </a:extLst>
          </p:cNvPr>
          <p:cNvSpPr/>
          <p:nvPr/>
        </p:nvSpPr>
        <p:spPr>
          <a:xfrm>
            <a:off x="6035040" y="1828800"/>
            <a:ext cx="5486400" cy="4114800"/>
          </a:xfrm>
          <a:prstGeom prst="roundRect">
            <a:avLst>
              <a:gd name="adj" fmla="val 2667"/>
            </a:avLst>
          </a:prstGeom>
          <a:solidFill>
            <a:srgbClr val="2F2D2A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51" name="Text 13">
            <a:extLst>
              <a:ext uri="{FF2B5EF4-FFF2-40B4-BE49-F238E27FC236}">
                <a16:creationId xmlns:a16="http://schemas.microsoft.com/office/drawing/2014/main" id="{C803E5BB-33D5-4DB3-F6BD-C5C6A3922E0E}"/>
              </a:ext>
            </a:extLst>
          </p:cNvPr>
          <p:cNvSpPr/>
          <p:nvPr/>
        </p:nvSpPr>
        <p:spPr>
          <a:xfrm>
            <a:off x="6309360" y="20574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D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Fluxo de Colaboração</a:t>
            </a:r>
            <a:endParaRPr lang="en-US" sz="1500" dirty="0"/>
          </a:p>
        </p:txBody>
      </p:sp>
      <p:sp>
        <p:nvSpPr>
          <p:cNvPr id="53" name="Shape 14">
            <a:extLst>
              <a:ext uri="{FF2B5EF4-FFF2-40B4-BE49-F238E27FC236}">
                <a16:creationId xmlns:a16="http://schemas.microsoft.com/office/drawing/2014/main" id="{D6714EBF-5B0A-184A-AC6D-683A1FBEE325}"/>
              </a:ext>
            </a:extLst>
          </p:cNvPr>
          <p:cNvSpPr/>
          <p:nvPr/>
        </p:nvSpPr>
        <p:spPr>
          <a:xfrm>
            <a:off x="6309360" y="2606040"/>
            <a:ext cx="457200" cy="457200"/>
          </a:xfrm>
          <a:prstGeom prst="ellipse">
            <a:avLst/>
          </a:prstGeom>
          <a:solidFill>
            <a:srgbClr val="FFBD49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55" name="Text 15">
            <a:extLst>
              <a:ext uri="{FF2B5EF4-FFF2-40B4-BE49-F238E27FC236}">
                <a16:creationId xmlns:a16="http://schemas.microsoft.com/office/drawing/2014/main" id="{EBF33FDF-DEEF-1D4B-2D3D-22A93AAD840F}"/>
              </a:ext>
            </a:extLst>
          </p:cNvPr>
          <p:cNvSpPr/>
          <p:nvPr/>
        </p:nvSpPr>
        <p:spPr>
          <a:xfrm>
            <a:off x="630936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57" name="Text 16">
            <a:extLst>
              <a:ext uri="{FF2B5EF4-FFF2-40B4-BE49-F238E27FC236}">
                <a16:creationId xmlns:a16="http://schemas.microsoft.com/office/drawing/2014/main" id="{EF5EC71A-52E3-8F1F-1C82-351E5142CEEA}"/>
              </a:ext>
            </a:extLst>
          </p:cNvPr>
          <p:cNvSpPr/>
          <p:nvPr/>
        </p:nvSpPr>
        <p:spPr>
          <a:xfrm>
            <a:off x="6903720" y="26060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Realizar o trabalho comprometido</a:t>
            </a:r>
            <a:endParaRPr lang="en-US" sz="1350" dirty="0"/>
          </a:p>
        </p:txBody>
      </p:sp>
      <p:sp>
        <p:nvSpPr>
          <p:cNvPr id="59" name="Shape 17">
            <a:extLst>
              <a:ext uri="{FF2B5EF4-FFF2-40B4-BE49-F238E27FC236}">
                <a16:creationId xmlns:a16="http://schemas.microsoft.com/office/drawing/2014/main" id="{602EE282-338D-BDEF-3CBE-9519866B5661}"/>
              </a:ext>
            </a:extLst>
          </p:cNvPr>
          <p:cNvSpPr/>
          <p:nvPr/>
        </p:nvSpPr>
        <p:spPr>
          <a:xfrm>
            <a:off x="6309360" y="3383280"/>
            <a:ext cx="457200" cy="457200"/>
          </a:xfrm>
          <a:prstGeom prst="ellipse">
            <a:avLst/>
          </a:prstGeom>
          <a:solidFill>
            <a:srgbClr val="FFBD49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61" name="Text 18">
            <a:extLst>
              <a:ext uri="{FF2B5EF4-FFF2-40B4-BE49-F238E27FC236}">
                <a16:creationId xmlns:a16="http://schemas.microsoft.com/office/drawing/2014/main" id="{B46A69B5-3183-914C-B31C-2AB9F7853B3E}"/>
              </a:ext>
            </a:extLst>
          </p:cNvPr>
          <p:cNvSpPr/>
          <p:nvPr/>
        </p:nvSpPr>
        <p:spPr>
          <a:xfrm>
            <a:off x="630936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63" name="Text 19">
            <a:extLst>
              <a:ext uri="{FF2B5EF4-FFF2-40B4-BE49-F238E27FC236}">
                <a16:creationId xmlns:a16="http://schemas.microsoft.com/office/drawing/2014/main" id="{1033F3D8-45B1-4610-03B2-AECC32EB8C3F}"/>
              </a:ext>
            </a:extLst>
          </p:cNvPr>
          <p:cNvSpPr/>
          <p:nvPr/>
        </p:nvSpPr>
        <p:spPr>
          <a:xfrm>
            <a:off x="6903720" y="338328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Partilhar e discutir com o grupo</a:t>
            </a:r>
            <a:endParaRPr lang="en-US" sz="1350" dirty="0"/>
          </a:p>
        </p:txBody>
      </p:sp>
      <p:sp>
        <p:nvSpPr>
          <p:cNvPr id="65" name="Shape 20">
            <a:extLst>
              <a:ext uri="{FF2B5EF4-FFF2-40B4-BE49-F238E27FC236}">
                <a16:creationId xmlns:a16="http://schemas.microsoft.com/office/drawing/2014/main" id="{7F71ABD3-DC1C-97B8-A9C6-79815DBA55E5}"/>
              </a:ext>
            </a:extLst>
          </p:cNvPr>
          <p:cNvSpPr/>
          <p:nvPr/>
        </p:nvSpPr>
        <p:spPr>
          <a:xfrm>
            <a:off x="6309360" y="4160520"/>
            <a:ext cx="457200" cy="457200"/>
          </a:xfrm>
          <a:prstGeom prst="ellipse">
            <a:avLst/>
          </a:prstGeom>
          <a:solidFill>
            <a:srgbClr val="FFBD49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67" name="Text 21">
            <a:extLst>
              <a:ext uri="{FF2B5EF4-FFF2-40B4-BE49-F238E27FC236}">
                <a16:creationId xmlns:a16="http://schemas.microsoft.com/office/drawing/2014/main" id="{F7C811D4-0DE4-A294-8178-AD6B2174BF5D}"/>
              </a:ext>
            </a:extLst>
          </p:cNvPr>
          <p:cNvSpPr/>
          <p:nvPr/>
        </p:nvSpPr>
        <p:spPr>
          <a:xfrm>
            <a:off x="630936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69" name="Text 22">
            <a:extLst>
              <a:ext uri="{FF2B5EF4-FFF2-40B4-BE49-F238E27FC236}">
                <a16:creationId xmlns:a16="http://schemas.microsoft.com/office/drawing/2014/main" id="{4F3B0175-7F23-1436-7AB6-AA5587014759}"/>
              </a:ext>
            </a:extLst>
          </p:cNvPr>
          <p:cNvSpPr/>
          <p:nvPr/>
        </p:nvSpPr>
        <p:spPr>
          <a:xfrm>
            <a:off x="6903720" y="41605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Incrementar o bloco no projeto</a:t>
            </a:r>
            <a:endParaRPr lang="en-US" sz="1350" dirty="0"/>
          </a:p>
        </p:txBody>
      </p:sp>
      <p:sp>
        <p:nvSpPr>
          <p:cNvPr id="71" name="Text 23">
            <a:extLst>
              <a:ext uri="{FF2B5EF4-FFF2-40B4-BE49-F238E27FC236}">
                <a16:creationId xmlns:a16="http://schemas.microsoft.com/office/drawing/2014/main" id="{0A14AB10-F8AB-6A8C-F197-E7ED82875703}"/>
              </a:ext>
            </a:extLst>
          </p:cNvPr>
          <p:cNvSpPr/>
          <p:nvPr/>
        </p:nvSpPr>
        <p:spPr>
          <a:xfrm>
            <a:off x="6309360" y="50292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D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Etapas de Desenvolvimento do Projeto</a:t>
            </a:r>
            <a:endParaRPr lang="en-US" sz="1200" dirty="0"/>
          </a:p>
        </p:txBody>
      </p:sp>
      <p:sp>
        <p:nvSpPr>
          <p:cNvPr id="73" name="Text 24">
            <a:extLst>
              <a:ext uri="{FF2B5EF4-FFF2-40B4-BE49-F238E27FC236}">
                <a16:creationId xmlns:a16="http://schemas.microsoft.com/office/drawing/2014/main" id="{288CD597-15D5-247B-8860-C653EF4B2F59}"/>
              </a:ext>
            </a:extLst>
          </p:cNvPr>
          <p:cNvSpPr/>
          <p:nvPr/>
        </p:nvSpPr>
        <p:spPr>
          <a:xfrm>
            <a:off x="6309360" y="534924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B8B4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 do problema  ·  Solução  ·  Desenho inicial  ·  Design &amp; manual de normas  ·  Desenvolvimento  ·  Base de dados</a:t>
            </a:r>
            <a:endParaRPr lang="en-US" sz="1150" dirty="0"/>
          </a:p>
        </p:txBody>
      </p:sp>
      <p:sp>
        <p:nvSpPr>
          <p:cNvPr id="77" name="Text 25">
            <a:extLst>
              <a:ext uri="{FF2B5EF4-FFF2-40B4-BE49-F238E27FC236}">
                <a16:creationId xmlns:a16="http://schemas.microsoft.com/office/drawing/2014/main" id="{372BAD57-E915-7D16-1C0D-A81543AE1A2A}"/>
              </a:ext>
            </a:extLst>
          </p:cNvPr>
          <p:cNvSpPr/>
          <p:nvPr/>
        </p:nvSpPr>
        <p:spPr>
          <a:xfrm>
            <a:off x="914400" y="63276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D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Meca </a:t>
            </a: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Móveis</a:t>
            </a:r>
            <a:endParaRPr lang="en-US" sz="1100" dirty="0"/>
          </a:p>
        </p:txBody>
      </p:sp>
      <p:sp>
        <p:nvSpPr>
          <p:cNvPr id="79" name="Text 26">
            <a:extLst>
              <a:ext uri="{FF2B5EF4-FFF2-40B4-BE49-F238E27FC236}">
                <a16:creationId xmlns:a16="http://schemas.microsoft.com/office/drawing/2014/main" id="{2F8C60AE-EF45-6953-417C-0C419E0DA3CD}"/>
              </a:ext>
            </a:extLst>
          </p:cNvPr>
          <p:cNvSpPr/>
          <p:nvPr/>
        </p:nvSpPr>
        <p:spPr>
          <a:xfrm>
            <a:off x="7251192" y="63276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Leandro Dionísio · Leandro Pinto · Filipe Viegas</a:t>
            </a:r>
            <a:endParaRPr lang="en-US" sz="1000" dirty="0"/>
          </a:p>
        </p:txBody>
      </p:sp>
      <p:pic>
        <p:nvPicPr>
          <p:cNvPr id="81" name="Image 0" descr="assets/logo.png">
            <a:extLst>
              <a:ext uri="{FF2B5EF4-FFF2-40B4-BE49-F238E27FC236}">
                <a16:creationId xmlns:a16="http://schemas.microsoft.com/office/drawing/2014/main" id="{FAFDAAF9-A4F1-BC0A-E735-9FA7E417FC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8065" y="6011516"/>
            <a:ext cx="1188147" cy="96477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6E9F11-C78F-87B0-D266-52ECBD6D4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0">
            <a:extLst>
              <a:ext uri="{FF2B5EF4-FFF2-40B4-BE49-F238E27FC236}">
                <a16:creationId xmlns:a16="http://schemas.microsoft.com/office/drawing/2014/main" id="{914A564E-1FBB-5983-D05F-AEAA939ECFB5}"/>
              </a:ext>
            </a:extLst>
          </p:cNvPr>
          <p:cNvSpPr/>
          <p:nvPr/>
        </p:nvSpPr>
        <p:spPr>
          <a:xfrm>
            <a:off x="640080" y="2651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BD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CAPÍTULO 02</a:t>
            </a:r>
            <a:endParaRPr lang="en-US" sz="1300" dirty="0"/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62C24B79-6276-6843-FEE2-557391A70450}"/>
              </a:ext>
            </a:extLst>
          </p:cNvPr>
          <p:cNvSpPr/>
          <p:nvPr/>
        </p:nvSpPr>
        <p:spPr>
          <a:xfrm>
            <a:off x="594360" y="3017520"/>
            <a:ext cx="8229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 &amp;</a:t>
            </a:r>
            <a:endParaRPr lang="en-US" sz="4600" dirty="0"/>
          </a:p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Funcionalidades</a:t>
            </a:r>
            <a:endParaRPr lang="en-US" sz="4600" dirty="0"/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32295EA4-FD94-3E15-C2D4-5D3609DAC0D7}"/>
              </a:ext>
            </a:extLst>
          </p:cNvPr>
          <p:cNvSpPr/>
          <p:nvPr/>
        </p:nvSpPr>
        <p:spPr>
          <a:xfrm>
            <a:off x="9811512" y="502920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0" dirty="0"/>
          </a:p>
        </p:txBody>
      </p:sp>
      <p:sp>
        <p:nvSpPr>
          <p:cNvPr id="21" name="Text 3">
            <a:extLst>
              <a:ext uri="{FF2B5EF4-FFF2-40B4-BE49-F238E27FC236}">
                <a16:creationId xmlns:a16="http://schemas.microsoft.com/office/drawing/2014/main" id="{2DDAD54B-2ECA-A8E7-16F3-06A05C5932AB}"/>
              </a:ext>
            </a:extLst>
          </p:cNvPr>
          <p:cNvSpPr/>
          <p:nvPr/>
        </p:nvSpPr>
        <p:spPr>
          <a:xfrm>
            <a:off x="914400" y="63276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D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Meca </a:t>
            </a: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Móveis</a:t>
            </a:r>
            <a:endParaRPr lang="en-US" sz="1100" dirty="0"/>
          </a:p>
        </p:txBody>
      </p:sp>
      <p:sp>
        <p:nvSpPr>
          <p:cNvPr id="23" name="Text 4">
            <a:extLst>
              <a:ext uri="{FF2B5EF4-FFF2-40B4-BE49-F238E27FC236}">
                <a16:creationId xmlns:a16="http://schemas.microsoft.com/office/drawing/2014/main" id="{38D77AB5-55C0-25B2-460B-4317C3A2FCF1}"/>
              </a:ext>
            </a:extLst>
          </p:cNvPr>
          <p:cNvSpPr/>
          <p:nvPr/>
        </p:nvSpPr>
        <p:spPr>
          <a:xfrm>
            <a:off x="7251192" y="63276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Leandro Dionísio · Leandro Pinto · Filipe Viegas</a:t>
            </a:r>
            <a:endParaRPr lang="en-US" sz="1000" dirty="0"/>
          </a:p>
        </p:txBody>
      </p:sp>
      <p:pic>
        <p:nvPicPr>
          <p:cNvPr id="25" name="Image 0" descr="assets/logo.png">
            <a:extLst>
              <a:ext uri="{FF2B5EF4-FFF2-40B4-BE49-F238E27FC236}">
                <a16:creationId xmlns:a16="http://schemas.microsoft.com/office/drawing/2014/main" id="{9A874D18-9C07-939F-DCC5-4045F4124D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8065" y="6011516"/>
            <a:ext cx="1188147" cy="964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58920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0">
            <a:extLst>
              <a:ext uri="{FF2B5EF4-FFF2-40B4-BE49-F238E27FC236}">
                <a16:creationId xmlns:a16="http://schemas.microsoft.com/office/drawing/2014/main" id="{EA6B2719-1C5D-FE6E-8227-3B17F9DC4BDF}"/>
              </a:ext>
            </a:extLst>
          </p:cNvPr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BD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DIAGNÓSTICO</a:t>
            </a:r>
            <a:endParaRPr lang="en-US" sz="1300" dirty="0"/>
          </a:p>
        </p:txBody>
      </p:sp>
      <p:sp>
        <p:nvSpPr>
          <p:cNvPr id="11" name="Text 1">
            <a:extLst>
              <a:ext uri="{FF2B5EF4-FFF2-40B4-BE49-F238E27FC236}">
                <a16:creationId xmlns:a16="http://schemas.microsoft.com/office/drawing/2014/main" id="{D6884B20-5493-0B34-E675-B64D68E61202}"/>
              </a:ext>
            </a:extLst>
          </p:cNvPr>
          <p:cNvSpPr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Problema &amp; Revisão da App</a:t>
            </a:r>
            <a:endParaRPr lang="en-US" sz="4000" dirty="0"/>
          </a:p>
        </p:txBody>
      </p:sp>
      <p:sp>
        <p:nvSpPr>
          <p:cNvPr id="13" name="Shape 2">
            <a:extLst>
              <a:ext uri="{FF2B5EF4-FFF2-40B4-BE49-F238E27FC236}">
                <a16:creationId xmlns:a16="http://schemas.microsoft.com/office/drawing/2014/main" id="{F32F818E-40FB-3FC2-36C2-0D16749DF3A3}"/>
              </a:ext>
            </a:extLst>
          </p:cNvPr>
          <p:cNvSpPr/>
          <p:nvPr/>
        </p:nvSpPr>
        <p:spPr>
          <a:xfrm>
            <a:off x="640080" y="1828800"/>
            <a:ext cx="5349240" cy="4114800"/>
          </a:xfrm>
          <a:prstGeom prst="roundRect">
            <a:avLst>
              <a:gd name="adj" fmla="val 2667"/>
            </a:avLst>
          </a:prstGeom>
          <a:solidFill>
            <a:srgbClr val="2F2D2A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5" name="Text 3">
            <a:extLst>
              <a:ext uri="{FF2B5EF4-FFF2-40B4-BE49-F238E27FC236}">
                <a16:creationId xmlns:a16="http://schemas.microsoft.com/office/drawing/2014/main" id="{60D8FFB8-BD2F-C31C-5D33-1DC6B46EF5AB}"/>
              </a:ext>
            </a:extLst>
          </p:cNvPr>
          <p:cNvSpPr/>
          <p:nvPr/>
        </p:nvSpPr>
        <p:spPr>
          <a:xfrm>
            <a:off x="914400" y="210312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BD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Problema</a:t>
            </a:r>
            <a:endParaRPr lang="en-US" sz="1600" dirty="0"/>
          </a:p>
        </p:txBody>
      </p:sp>
      <p:sp>
        <p:nvSpPr>
          <p:cNvPr id="17" name="Text 4">
            <a:extLst>
              <a:ext uri="{FF2B5EF4-FFF2-40B4-BE49-F238E27FC236}">
                <a16:creationId xmlns:a16="http://schemas.microsoft.com/office/drawing/2014/main" id="{3C900849-9D67-2FA0-B93A-5B93A9B2B81F}"/>
              </a:ext>
            </a:extLst>
          </p:cNvPr>
          <p:cNvSpPr/>
          <p:nvPr/>
        </p:nvSpPr>
        <p:spPr>
          <a:xfrm>
            <a:off x="914400" y="2606040"/>
            <a:ext cx="4800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B8B4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Encomendas e </a:t>
            </a:r>
            <a:r>
              <a:rPr lang="en-US" sz="1400" dirty="0" err="1">
                <a:solidFill>
                  <a:srgbClr val="B8B4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reparações</a:t>
            </a:r>
            <a:r>
              <a:rPr lang="en-US" sz="1400" dirty="0">
                <a:solidFill>
                  <a:srgbClr val="B8B4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dispositivos já têm rastreio consolidado — mas o setor automóvel, apesar do elevado valor associado, carece de acompanhamento transparente durante a reparação.</a:t>
            </a:r>
            <a:endParaRPr lang="en-US" sz="1400" dirty="0"/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9367923E-6193-1DBE-972B-8070D6DAAA5E}"/>
              </a:ext>
            </a:extLst>
          </p:cNvPr>
          <p:cNvSpPr/>
          <p:nvPr/>
        </p:nvSpPr>
        <p:spPr>
          <a:xfrm>
            <a:off x="914400" y="4206240"/>
            <a:ext cx="4800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Identificámos aqui uma oportunidade pouco explorada para aplicar essa lógica de rastreio ao processo de reparação automóvel.</a:t>
            </a:r>
            <a:endParaRPr lang="en-US" sz="1400" dirty="0"/>
          </a:p>
        </p:txBody>
      </p:sp>
      <p:sp>
        <p:nvSpPr>
          <p:cNvPr id="21" name="Shape 6">
            <a:extLst>
              <a:ext uri="{FF2B5EF4-FFF2-40B4-BE49-F238E27FC236}">
                <a16:creationId xmlns:a16="http://schemas.microsoft.com/office/drawing/2014/main" id="{0ADDF020-C014-53AE-D25E-56FD88435FCE}"/>
              </a:ext>
            </a:extLst>
          </p:cNvPr>
          <p:cNvSpPr/>
          <p:nvPr/>
        </p:nvSpPr>
        <p:spPr>
          <a:xfrm>
            <a:off x="6172200" y="1828800"/>
            <a:ext cx="5349240" cy="4114800"/>
          </a:xfrm>
          <a:prstGeom prst="roundRect">
            <a:avLst>
              <a:gd name="adj" fmla="val 2667"/>
            </a:avLst>
          </a:prstGeom>
          <a:solidFill>
            <a:srgbClr val="2F2D2A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23" name="Text 7">
            <a:extLst>
              <a:ext uri="{FF2B5EF4-FFF2-40B4-BE49-F238E27FC236}">
                <a16:creationId xmlns:a16="http://schemas.microsoft.com/office/drawing/2014/main" id="{47C023AB-8977-69D0-6EFC-57971A6294E1}"/>
              </a:ext>
            </a:extLst>
          </p:cNvPr>
          <p:cNvSpPr/>
          <p:nvPr/>
        </p:nvSpPr>
        <p:spPr>
          <a:xfrm>
            <a:off x="6446520" y="210312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BD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 Linha de Comandos à App Móvel</a:t>
            </a:r>
            <a:endParaRPr lang="en-US" sz="1600" dirty="0"/>
          </a:p>
        </p:txBody>
      </p:sp>
      <p:sp>
        <p:nvSpPr>
          <p:cNvPr id="25" name="Text 8">
            <a:extLst>
              <a:ext uri="{FF2B5EF4-FFF2-40B4-BE49-F238E27FC236}">
                <a16:creationId xmlns:a16="http://schemas.microsoft.com/office/drawing/2014/main" id="{F3E3FF24-7C1D-464C-BBB7-C913AD9CD236}"/>
              </a:ext>
            </a:extLst>
          </p:cNvPr>
          <p:cNvSpPr/>
          <p:nvPr/>
        </p:nvSpPr>
        <p:spPr>
          <a:xfrm>
            <a:off x="6446520" y="2606040"/>
            <a:ext cx="4800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B8B4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projeto anterior implementou todas as funcionalidades propostas por terminal, com limitações técnicas propositadas que serviram de base sólida à lógica da </a:t>
            </a:r>
            <a:r>
              <a:rPr lang="en-US" sz="1400" dirty="0" err="1">
                <a:solidFill>
                  <a:srgbClr val="B8B4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aplicação</a:t>
            </a:r>
            <a:r>
              <a:rPr lang="en-US" sz="1400" dirty="0">
                <a:solidFill>
                  <a:srgbClr val="B8B4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400" dirty="0"/>
          </a:p>
        </p:txBody>
      </p:sp>
      <p:sp>
        <p:nvSpPr>
          <p:cNvPr id="27" name="Text 9">
            <a:extLst>
              <a:ext uri="{FF2B5EF4-FFF2-40B4-BE49-F238E27FC236}">
                <a16:creationId xmlns:a16="http://schemas.microsoft.com/office/drawing/2014/main" id="{E75698C8-EC97-3001-1714-BA7C798795A2}"/>
              </a:ext>
            </a:extLst>
          </p:cNvPr>
          <p:cNvSpPr/>
          <p:nvPr/>
        </p:nvSpPr>
        <p:spPr>
          <a:xfrm>
            <a:off x="6446520" y="4206240"/>
            <a:ext cx="4800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Nesta fase evoluímos essa base para uma interface gráfica </a:t>
            </a:r>
            <a:r>
              <a:rPr lang="en-US" sz="14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móvel</a:t>
            </a: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completa, mantendo a mesma manipulação de dados, base de dados e fluxos já validados.</a:t>
            </a:r>
            <a:endParaRPr lang="en-US" sz="1400" dirty="0"/>
          </a:p>
        </p:txBody>
      </p:sp>
      <p:sp>
        <p:nvSpPr>
          <p:cNvPr id="31" name="Text 10">
            <a:extLst>
              <a:ext uri="{FF2B5EF4-FFF2-40B4-BE49-F238E27FC236}">
                <a16:creationId xmlns:a16="http://schemas.microsoft.com/office/drawing/2014/main" id="{2B2C3553-959D-4B5A-16E2-CDF7072F3C61}"/>
              </a:ext>
            </a:extLst>
          </p:cNvPr>
          <p:cNvSpPr/>
          <p:nvPr/>
        </p:nvSpPr>
        <p:spPr>
          <a:xfrm>
            <a:off x="914400" y="63276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D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Meca </a:t>
            </a: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Móveis</a:t>
            </a:r>
            <a:endParaRPr lang="en-US" sz="1100" dirty="0"/>
          </a:p>
        </p:txBody>
      </p:sp>
      <p:sp>
        <p:nvSpPr>
          <p:cNvPr id="33" name="Text 11">
            <a:extLst>
              <a:ext uri="{FF2B5EF4-FFF2-40B4-BE49-F238E27FC236}">
                <a16:creationId xmlns:a16="http://schemas.microsoft.com/office/drawing/2014/main" id="{F1D3E538-A0DB-B09A-FF41-8967C3F4761D}"/>
              </a:ext>
            </a:extLst>
          </p:cNvPr>
          <p:cNvSpPr/>
          <p:nvPr/>
        </p:nvSpPr>
        <p:spPr>
          <a:xfrm>
            <a:off x="7251192" y="63276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Leandro Dionísio · Leandro Pinto · Filipe Viegas</a:t>
            </a:r>
            <a:endParaRPr lang="en-US" sz="1000" dirty="0"/>
          </a:p>
        </p:txBody>
      </p:sp>
      <p:pic>
        <p:nvPicPr>
          <p:cNvPr id="35" name="Image 0" descr="assets/logo.png">
            <a:extLst>
              <a:ext uri="{FF2B5EF4-FFF2-40B4-BE49-F238E27FC236}">
                <a16:creationId xmlns:a16="http://schemas.microsoft.com/office/drawing/2014/main" id="{39244160-5EA9-6FB0-C7AC-61DBEF9900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8065" y="6011516"/>
            <a:ext cx="1188147" cy="96477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0">
            <a:extLst>
              <a:ext uri="{FF2B5EF4-FFF2-40B4-BE49-F238E27FC236}">
                <a16:creationId xmlns:a16="http://schemas.microsoft.com/office/drawing/2014/main" id="{A8AE38ED-C05D-65E9-CE8F-70FB097C926B}"/>
              </a:ext>
            </a:extLst>
          </p:cNvPr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BD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REQUISITOS</a:t>
            </a:r>
            <a:endParaRPr lang="en-US" sz="1300" dirty="0"/>
          </a:p>
        </p:txBody>
      </p:sp>
      <p:sp>
        <p:nvSpPr>
          <p:cNvPr id="24" name="Text 1">
            <a:extLst>
              <a:ext uri="{FF2B5EF4-FFF2-40B4-BE49-F238E27FC236}">
                <a16:creationId xmlns:a16="http://schemas.microsoft.com/office/drawing/2014/main" id="{8BF60474-711D-66D6-2CFE-B71B0DF76FAF}"/>
              </a:ext>
            </a:extLst>
          </p:cNvPr>
          <p:cNvSpPr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Funcionalidades da Aplicação</a:t>
            </a:r>
            <a:endParaRPr lang="en-US" sz="4000" dirty="0"/>
          </a:p>
        </p:txBody>
      </p:sp>
      <p:sp>
        <p:nvSpPr>
          <p:cNvPr id="26" name="Shape 2">
            <a:extLst>
              <a:ext uri="{FF2B5EF4-FFF2-40B4-BE49-F238E27FC236}">
                <a16:creationId xmlns:a16="http://schemas.microsoft.com/office/drawing/2014/main" id="{FDD79B2B-6514-66D1-0944-09D8205E5042}"/>
              </a:ext>
            </a:extLst>
          </p:cNvPr>
          <p:cNvSpPr/>
          <p:nvPr/>
        </p:nvSpPr>
        <p:spPr>
          <a:xfrm>
            <a:off x="640080" y="1828800"/>
            <a:ext cx="2606040" cy="4114800"/>
          </a:xfrm>
          <a:prstGeom prst="roundRect">
            <a:avLst>
              <a:gd name="adj" fmla="val 4211"/>
            </a:avLst>
          </a:prstGeom>
          <a:solidFill>
            <a:srgbClr val="2F2D2A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28" name="Shape 3">
            <a:extLst>
              <a:ext uri="{FF2B5EF4-FFF2-40B4-BE49-F238E27FC236}">
                <a16:creationId xmlns:a16="http://schemas.microsoft.com/office/drawing/2014/main" id="{4D82E326-AFCB-F6EA-8D4B-2DD2CED56D04}"/>
              </a:ext>
            </a:extLst>
          </p:cNvPr>
          <p:cNvSpPr/>
          <p:nvPr/>
        </p:nvSpPr>
        <p:spPr>
          <a:xfrm>
            <a:off x="914400" y="2148840"/>
            <a:ext cx="457200" cy="457200"/>
          </a:xfrm>
          <a:prstGeom prst="ellipse">
            <a:avLst/>
          </a:prstGeom>
          <a:solidFill>
            <a:srgbClr val="FFBD49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30" name="Text 4">
            <a:extLst>
              <a:ext uri="{FF2B5EF4-FFF2-40B4-BE49-F238E27FC236}">
                <a16:creationId xmlns:a16="http://schemas.microsoft.com/office/drawing/2014/main" id="{CEDC01BE-E7DE-2DE1-451F-FE0611B578C6}"/>
              </a:ext>
            </a:extLst>
          </p:cNvPr>
          <p:cNvSpPr/>
          <p:nvPr/>
        </p:nvSpPr>
        <p:spPr>
          <a:xfrm>
            <a:off x="91440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32" name="Text 5">
            <a:extLst>
              <a:ext uri="{FF2B5EF4-FFF2-40B4-BE49-F238E27FC236}">
                <a16:creationId xmlns:a16="http://schemas.microsoft.com/office/drawing/2014/main" id="{E5504BE2-FADE-E16A-46CF-D8ED5F76AAA9}"/>
              </a:ext>
            </a:extLst>
          </p:cNvPr>
          <p:cNvSpPr/>
          <p:nvPr/>
        </p:nvSpPr>
        <p:spPr>
          <a:xfrm>
            <a:off x="914400" y="274320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Criação</a:t>
            </a:r>
            <a:endParaRPr lang="en-US" sz="1700" dirty="0"/>
          </a:p>
        </p:txBody>
      </p:sp>
      <p:sp>
        <p:nvSpPr>
          <p:cNvPr id="34" name="Text 6">
            <a:extLst>
              <a:ext uri="{FF2B5EF4-FFF2-40B4-BE49-F238E27FC236}">
                <a16:creationId xmlns:a16="http://schemas.microsoft.com/office/drawing/2014/main" id="{0F0979E1-7A24-C2B6-329D-CD007EA98408}"/>
              </a:ext>
            </a:extLst>
          </p:cNvPr>
          <p:cNvSpPr/>
          <p:nvPr/>
        </p:nvSpPr>
        <p:spPr>
          <a:xfrm>
            <a:off x="914400" y="3246120"/>
            <a:ext cx="20574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B8B4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Conta de cliente e mecânico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B8B4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Registo de veículo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B8B4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Criação de orçamento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B8B4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Criação de reparação</a:t>
            </a:r>
            <a:endParaRPr lang="en-US" sz="1200" dirty="0"/>
          </a:p>
        </p:txBody>
      </p:sp>
      <p:sp>
        <p:nvSpPr>
          <p:cNvPr id="36" name="Shape 7">
            <a:extLst>
              <a:ext uri="{FF2B5EF4-FFF2-40B4-BE49-F238E27FC236}">
                <a16:creationId xmlns:a16="http://schemas.microsoft.com/office/drawing/2014/main" id="{824269A6-FC8B-E7E6-09F9-17524F432D30}"/>
              </a:ext>
            </a:extLst>
          </p:cNvPr>
          <p:cNvSpPr/>
          <p:nvPr/>
        </p:nvSpPr>
        <p:spPr>
          <a:xfrm>
            <a:off x="3429000" y="1828800"/>
            <a:ext cx="2606040" cy="4114800"/>
          </a:xfrm>
          <a:prstGeom prst="roundRect">
            <a:avLst>
              <a:gd name="adj" fmla="val 4211"/>
            </a:avLst>
          </a:prstGeom>
          <a:solidFill>
            <a:srgbClr val="2F2D2A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38" name="Shape 8">
            <a:extLst>
              <a:ext uri="{FF2B5EF4-FFF2-40B4-BE49-F238E27FC236}">
                <a16:creationId xmlns:a16="http://schemas.microsoft.com/office/drawing/2014/main" id="{D12BC838-B044-E316-A7F2-37CD57881A0A}"/>
              </a:ext>
            </a:extLst>
          </p:cNvPr>
          <p:cNvSpPr/>
          <p:nvPr/>
        </p:nvSpPr>
        <p:spPr>
          <a:xfrm>
            <a:off x="3703320" y="2148840"/>
            <a:ext cx="457200" cy="457200"/>
          </a:xfrm>
          <a:prstGeom prst="ellipse">
            <a:avLst/>
          </a:prstGeom>
          <a:solidFill>
            <a:srgbClr val="FFBD49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40" name="Text 9">
            <a:extLst>
              <a:ext uri="{FF2B5EF4-FFF2-40B4-BE49-F238E27FC236}">
                <a16:creationId xmlns:a16="http://schemas.microsoft.com/office/drawing/2014/main" id="{9FA73A67-8C19-512C-FB0F-27657156A17A}"/>
              </a:ext>
            </a:extLst>
          </p:cNvPr>
          <p:cNvSpPr/>
          <p:nvPr/>
        </p:nvSpPr>
        <p:spPr>
          <a:xfrm>
            <a:off x="370332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42" name="Text 10">
            <a:extLst>
              <a:ext uri="{FF2B5EF4-FFF2-40B4-BE49-F238E27FC236}">
                <a16:creationId xmlns:a16="http://schemas.microsoft.com/office/drawing/2014/main" id="{7B9C4D22-D69D-EDC2-53B7-1C750522481F}"/>
              </a:ext>
            </a:extLst>
          </p:cNvPr>
          <p:cNvSpPr/>
          <p:nvPr/>
        </p:nvSpPr>
        <p:spPr>
          <a:xfrm>
            <a:off x="3703320" y="274320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</a:t>
            </a:r>
            <a:endParaRPr lang="en-US" sz="1700" dirty="0"/>
          </a:p>
        </p:txBody>
      </p:sp>
      <p:sp>
        <p:nvSpPr>
          <p:cNvPr id="44" name="Text 11">
            <a:extLst>
              <a:ext uri="{FF2B5EF4-FFF2-40B4-BE49-F238E27FC236}">
                <a16:creationId xmlns:a16="http://schemas.microsoft.com/office/drawing/2014/main" id="{7FD59C78-923C-809A-2646-AFCECC23E56E}"/>
              </a:ext>
            </a:extLst>
          </p:cNvPr>
          <p:cNvSpPr/>
          <p:nvPr/>
        </p:nvSpPr>
        <p:spPr>
          <a:xfrm>
            <a:off x="3703320" y="3246120"/>
            <a:ext cx="20574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B8B4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Estado da reparação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B8B4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Orçamentos e </a:t>
            </a:r>
            <a:r>
              <a:rPr lang="en-US" sz="1200" dirty="0" err="1">
                <a:solidFill>
                  <a:srgbClr val="B8B4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reparações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B8B4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Lista de clientes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B8B4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Lista de veículos</a:t>
            </a:r>
            <a:endParaRPr lang="en-US" sz="1200" dirty="0"/>
          </a:p>
        </p:txBody>
      </p:sp>
      <p:sp>
        <p:nvSpPr>
          <p:cNvPr id="46" name="Shape 12">
            <a:extLst>
              <a:ext uri="{FF2B5EF4-FFF2-40B4-BE49-F238E27FC236}">
                <a16:creationId xmlns:a16="http://schemas.microsoft.com/office/drawing/2014/main" id="{7EABEBAB-510B-F234-178E-BBFC2D12096D}"/>
              </a:ext>
            </a:extLst>
          </p:cNvPr>
          <p:cNvSpPr/>
          <p:nvPr/>
        </p:nvSpPr>
        <p:spPr>
          <a:xfrm>
            <a:off x="6217920" y="1828800"/>
            <a:ext cx="2606040" cy="4114800"/>
          </a:xfrm>
          <a:prstGeom prst="roundRect">
            <a:avLst>
              <a:gd name="adj" fmla="val 4211"/>
            </a:avLst>
          </a:prstGeom>
          <a:solidFill>
            <a:srgbClr val="2F2D2A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48" name="Shape 13">
            <a:extLst>
              <a:ext uri="{FF2B5EF4-FFF2-40B4-BE49-F238E27FC236}">
                <a16:creationId xmlns:a16="http://schemas.microsoft.com/office/drawing/2014/main" id="{66834E5A-70AA-7304-DA39-8974D837C604}"/>
              </a:ext>
            </a:extLst>
          </p:cNvPr>
          <p:cNvSpPr/>
          <p:nvPr/>
        </p:nvSpPr>
        <p:spPr>
          <a:xfrm>
            <a:off x="6492240" y="2148840"/>
            <a:ext cx="457200" cy="457200"/>
          </a:xfrm>
          <a:prstGeom prst="ellipse">
            <a:avLst/>
          </a:prstGeom>
          <a:solidFill>
            <a:srgbClr val="FFBD49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50" name="Text 14">
            <a:extLst>
              <a:ext uri="{FF2B5EF4-FFF2-40B4-BE49-F238E27FC236}">
                <a16:creationId xmlns:a16="http://schemas.microsoft.com/office/drawing/2014/main" id="{9737323F-E56D-BC04-B062-507FACF78A12}"/>
              </a:ext>
            </a:extLst>
          </p:cNvPr>
          <p:cNvSpPr/>
          <p:nvPr/>
        </p:nvSpPr>
        <p:spPr>
          <a:xfrm>
            <a:off x="649224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52" name="Text 15">
            <a:extLst>
              <a:ext uri="{FF2B5EF4-FFF2-40B4-BE49-F238E27FC236}">
                <a16:creationId xmlns:a16="http://schemas.microsoft.com/office/drawing/2014/main" id="{5AE41E1E-1C3E-DABE-66E5-4945FFA78893}"/>
              </a:ext>
            </a:extLst>
          </p:cNvPr>
          <p:cNvSpPr/>
          <p:nvPr/>
        </p:nvSpPr>
        <p:spPr>
          <a:xfrm>
            <a:off x="6492240" y="274320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Atualização</a:t>
            </a:r>
            <a:endParaRPr lang="en-US" sz="1700" dirty="0"/>
          </a:p>
        </p:txBody>
      </p:sp>
      <p:sp>
        <p:nvSpPr>
          <p:cNvPr id="54" name="Text 16">
            <a:extLst>
              <a:ext uri="{FF2B5EF4-FFF2-40B4-BE49-F238E27FC236}">
                <a16:creationId xmlns:a16="http://schemas.microsoft.com/office/drawing/2014/main" id="{1A1AFEF9-BE33-6D92-6281-384A1CBA60E8}"/>
              </a:ext>
            </a:extLst>
          </p:cNvPr>
          <p:cNvSpPr/>
          <p:nvPr/>
        </p:nvSpPr>
        <p:spPr>
          <a:xfrm>
            <a:off x="6492240" y="3246120"/>
            <a:ext cx="20574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B8B4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Estado da reparação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B8B4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Detalhes da reparação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B8B4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Edição de orçamento</a:t>
            </a:r>
            <a:endParaRPr lang="en-US" sz="1200" dirty="0"/>
          </a:p>
        </p:txBody>
      </p:sp>
      <p:sp>
        <p:nvSpPr>
          <p:cNvPr id="56" name="Shape 17">
            <a:extLst>
              <a:ext uri="{FF2B5EF4-FFF2-40B4-BE49-F238E27FC236}">
                <a16:creationId xmlns:a16="http://schemas.microsoft.com/office/drawing/2014/main" id="{3C4F5E83-C045-0F55-68FF-0043241573D3}"/>
              </a:ext>
            </a:extLst>
          </p:cNvPr>
          <p:cNvSpPr/>
          <p:nvPr/>
        </p:nvSpPr>
        <p:spPr>
          <a:xfrm>
            <a:off x="9006840" y="1828800"/>
            <a:ext cx="2606040" cy="4114800"/>
          </a:xfrm>
          <a:prstGeom prst="roundRect">
            <a:avLst>
              <a:gd name="adj" fmla="val 4211"/>
            </a:avLst>
          </a:prstGeom>
          <a:solidFill>
            <a:srgbClr val="2F2D2A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58" name="Shape 18">
            <a:extLst>
              <a:ext uri="{FF2B5EF4-FFF2-40B4-BE49-F238E27FC236}">
                <a16:creationId xmlns:a16="http://schemas.microsoft.com/office/drawing/2014/main" id="{7CA3B242-738F-B7D4-FCDD-7DC0C838EA26}"/>
              </a:ext>
            </a:extLst>
          </p:cNvPr>
          <p:cNvSpPr/>
          <p:nvPr/>
        </p:nvSpPr>
        <p:spPr>
          <a:xfrm>
            <a:off x="9281160" y="2148840"/>
            <a:ext cx="457200" cy="457200"/>
          </a:xfrm>
          <a:prstGeom prst="ellipse">
            <a:avLst/>
          </a:prstGeom>
          <a:solidFill>
            <a:srgbClr val="FFBD49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60" name="Text 19">
            <a:extLst>
              <a:ext uri="{FF2B5EF4-FFF2-40B4-BE49-F238E27FC236}">
                <a16:creationId xmlns:a16="http://schemas.microsoft.com/office/drawing/2014/main" id="{B03E3F2D-6718-F17F-ECAC-27136BD5BD64}"/>
              </a:ext>
            </a:extLst>
          </p:cNvPr>
          <p:cNvSpPr/>
          <p:nvPr/>
        </p:nvSpPr>
        <p:spPr>
          <a:xfrm>
            <a:off x="928116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500" dirty="0"/>
          </a:p>
        </p:txBody>
      </p:sp>
      <p:sp>
        <p:nvSpPr>
          <p:cNvPr id="62" name="Text 20">
            <a:extLst>
              <a:ext uri="{FF2B5EF4-FFF2-40B4-BE49-F238E27FC236}">
                <a16:creationId xmlns:a16="http://schemas.microsoft.com/office/drawing/2014/main" id="{67EDE4F7-9D3A-3DCF-0EC7-AA183651D73E}"/>
              </a:ext>
            </a:extLst>
          </p:cNvPr>
          <p:cNvSpPr/>
          <p:nvPr/>
        </p:nvSpPr>
        <p:spPr>
          <a:xfrm>
            <a:off x="9281160" y="274320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Eliminação</a:t>
            </a:r>
            <a:endParaRPr lang="en-US" sz="1700" dirty="0"/>
          </a:p>
        </p:txBody>
      </p:sp>
      <p:sp>
        <p:nvSpPr>
          <p:cNvPr id="64" name="Text 21">
            <a:extLst>
              <a:ext uri="{FF2B5EF4-FFF2-40B4-BE49-F238E27FC236}">
                <a16:creationId xmlns:a16="http://schemas.microsoft.com/office/drawing/2014/main" id="{8B46498D-844E-A038-1C05-CADE7537A65B}"/>
              </a:ext>
            </a:extLst>
          </p:cNvPr>
          <p:cNvSpPr/>
          <p:nvPr/>
        </p:nvSpPr>
        <p:spPr>
          <a:xfrm>
            <a:off x="9281160" y="3246120"/>
            <a:ext cx="20574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B8B4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Remoção de veículos</a:t>
            </a:r>
            <a:endParaRPr lang="en-US" sz="1200" dirty="0"/>
          </a:p>
        </p:txBody>
      </p:sp>
      <p:sp>
        <p:nvSpPr>
          <p:cNvPr id="68" name="Text 22">
            <a:extLst>
              <a:ext uri="{FF2B5EF4-FFF2-40B4-BE49-F238E27FC236}">
                <a16:creationId xmlns:a16="http://schemas.microsoft.com/office/drawing/2014/main" id="{F071BD26-DD53-DE83-90AA-CEED3B24CA90}"/>
              </a:ext>
            </a:extLst>
          </p:cNvPr>
          <p:cNvSpPr/>
          <p:nvPr/>
        </p:nvSpPr>
        <p:spPr>
          <a:xfrm>
            <a:off x="914400" y="63276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D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Meca </a:t>
            </a: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Móveis</a:t>
            </a:r>
            <a:endParaRPr lang="en-US" sz="1100" dirty="0"/>
          </a:p>
        </p:txBody>
      </p:sp>
      <p:sp>
        <p:nvSpPr>
          <p:cNvPr id="70" name="Text 23">
            <a:extLst>
              <a:ext uri="{FF2B5EF4-FFF2-40B4-BE49-F238E27FC236}">
                <a16:creationId xmlns:a16="http://schemas.microsoft.com/office/drawing/2014/main" id="{923CCFF4-D608-E4D2-2EAC-6D9B053C9E41}"/>
              </a:ext>
            </a:extLst>
          </p:cNvPr>
          <p:cNvSpPr/>
          <p:nvPr/>
        </p:nvSpPr>
        <p:spPr>
          <a:xfrm>
            <a:off x="7251192" y="63276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Leandro Dionísio · Leandro Pinto · Filipe Viegas</a:t>
            </a:r>
            <a:endParaRPr lang="en-US" sz="1000" dirty="0"/>
          </a:p>
        </p:txBody>
      </p:sp>
      <p:pic>
        <p:nvPicPr>
          <p:cNvPr id="72" name="Image 0" descr="assets/logo.png">
            <a:extLst>
              <a:ext uri="{FF2B5EF4-FFF2-40B4-BE49-F238E27FC236}">
                <a16:creationId xmlns:a16="http://schemas.microsoft.com/office/drawing/2014/main" id="{91ECD43F-E459-5F0B-A85F-F37ACB6A65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8065" y="6011516"/>
            <a:ext cx="1188147" cy="96477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0">
            <a:extLst>
              <a:ext uri="{FF2B5EF4-FFF2-40B4-BE49-F238E27FC236}">
                <a16:creationId xmlns:a16="http://schemas.microsoft.com/office/drawing/2014/main" id="{FC45D39C-351B-EA26-E8DC-7D2BDA12393B}"/>
              </a:ext>
            </a:extLst>
          </p:cNvPr>
          <p:cNvSpPr/>
          <p:nvPr/>
        </p:nvSpPr>
        <p:spPr>
          <a:xfrm>
            <a:off x="640080" y="2651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BD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CAPÍTULO 03</a:t>
            </a:r>
            <a:endParaRPr lang="en-US" sz="1300" dirty="0"/>
          </a:p>
        </p:txBody>
      </p:sp>
      <p:sp>
        <p:nvSpPr>
          <p:cNvPr id="19" name="Text 1">
            <a:extLst>
              <a:ext uri="{FF2B5EF4-FFF2-40B4-BE49-F238E27FC236}">
                <a16:creationId xmlns:a16="http://schemas.microsoft.com/office/drawing/2014/main" id="{7CBBCF5D-57CA-FAFF-899E-F672383AC6C7}"/>
              </a:ext>
            </a:extLst>
          </p:cNvPr>
          <p:cNvSpPr/>
          <p:nvPr/>
        </p:nvSpPr>
        <p:spPr>
          <a:xfrm>
            <a:off x="594360" y="3017520"/>
            <a:ext cx="8229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Desenho de</a:t>
            </a:r>
            <a:endParaRPr lang="en-US" sz="4600" dirty="0"/>
          </a:p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</a:t>
            </a:r>
            <a:endParaRPr lang="en-US" sz="4600" dirty="0"/>
          </a:p>
        </p:txBody>
      </p:sp>
      <p:sp>
        <p:nvSpPr>
          <p:cNvPr id="21" name="Text 2">
            <a:extLst>
              <a:ext uri="{FF2B5EF4-FFF2-40B4-BE49-F238E27FC236}">
                <a16:creationId xmlns:a16="http://schemas.microsoft.com/office/drawing/2014/main" id="{5E967141-32C4-6E10-7834-645B71DA847E}"/>
              </a:ext>
            </a:extLst>
          </p:cNvPr>
          <p:cNvSpPr/>
          <p:nvPr/>
        </p:nvSpPr>
        <p:spPr>
          <a:xfrm>
            <a:off x="9811512" y="502920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0" dirty="0"/>
          </a:p>
        </p:txBody>
      </p:sp>
      <p:sp>
        <p:nvSpPr>
          <p:cNvPr id="25" name="Text 3">
            <a:extLst>
              <a:ext uri="{FF2B5EF4-FFF2-40B4-BE49-F238E27FC236}">
                <a16:creationId xmlns:a16="http://schemas.microsoft.com/office/drawing/2014/main" id="{9D499A7C-AE23-9095-B581-052A16B13D73}"/>
              </a:ext>
            </a:extLst>
          </p:cNvPr>
          <p:cNvSpPr/>
          <p:nvPr/>
        </p:nvSpPr>
        <p:spPr>
          <a:xfrm>
            <a:off x="914400" y="63276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D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Meca </a:t>
            </a: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Móveis</a:t>
            </a:r>
            <a:endParaRPr lang="en-US" sz="1100" dirty="0"/>
          </a:p>
        </p:txBody>
      </p:sp>
      <p:sp>
        <p:nvSpPr>
          <p:cNvPr id="27" name="Text 4">
            <a:extLst>
              <a:ext uri="{FF2B5EF4-FFF2-40B4-BE49-F238E27FC236}">
                <a16:creationId xmlns:a16="http://schemas.microsoft.com/office/drawing/2014/main" id="{038C3497-B25F-B8F6-12D7-94A7BC3E4CD2}"/>
              </a:ext>
            </a:extLst>
          </p:cNvPr>
          <p:cNvSpPr/>
          <p:nvPr/>
        </p:nvSpPr>
        <p:spPr>
          <a:xfrm>
            <a:off x="7251192" y="63276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Leandro Dionísio · Leandro Pinto · Filipe Viegas</a:t>
            </a:r>
            <a:endParaRPr lang="en-US" sz="1000" dirty="0"/>
          </a:p>
        </p:txBody>
      </p:sp>
      <p:pic>
        <p:nvPicPr>
          <p:cNvPr id="29" name="Image 0" descr="assets/logo.png">
            <a:extLst>
              <a:ext uri="{FF2B5EF4-FFF2-40B4-BE49-F238E27FC236}">
                <a16:creationId xmlns:a16="http://schemas.microsoft.com/office/drawing/2014/main" id="{6E610DF7-FE9D-0CA3-DC3E-A616E4561A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8065" y="6011516"/>
            <a:ext cx="1188147" cy="96477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0">
            <a:extLst>
              <a:ext uri="{FF2B5EF4-FFF2-40B4-BE49-F238E27FC236}">
                <a16:creationId xmlns:a16="http://schemas.microsoft.com/office/drawing/2014/main" id="{FFE3558C-D2BD-6D02-FFC4-BC707C6E667F}"/>
              </a:ext>
            </a:extLst>
          </p:cNvPr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BD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UX RESEARCH</a:t>
            </a:r>
            <a:endParaRPr lang="en-US" sz="1300" dirty="0"/>
          </a:p>
        </p:txBody>
      </p:sp>
      <p:sp>
        <p:nvSpPr>
          <p:cNvPr id="28" name="Text 1">
            <a:extLst>
              <a:ext uri="{FF2B5EF4-FFF2-40B4-BE49-F238E27FC236}">
                <a16:creationId xmlns:a16="http://schemas.microsoft.com/office/drawing/2014/main" id="{544F37E8-4447-EDCC-0AA8-18FF9E098B0B}"/>
              </a:ext>
            </a:extLst>
          </p:cNvPr>
          <p:cNvSpPr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Metodologia UX &amp; Benchmark</a:t>
            </a:r>
            <a:endParaRPr lang="en-US" sz="4000" dirty="0"/>
          </a:p>
        </p:txBody>
      </p:sp>
      <p:sp>
        <p:nvSpPr>
          <p:cNvPr id="30" name="Shape 2">
            <a:extLst>
              <a:ext uri="{FF2B5EF4-FFF2-40B4-BE49-F238E27FC236}">
                <a16:creationId xmlns:a16="http://schemas.microsoft.com/office/drawing/2014/main" id="{1AEC30B6-AC33-99CC-BC64-E1745EC1E138}"/>
              </a:ext>
            </a:extLst>
          </p:cNvPr>
          <p:cNvSpPr/>
          <p:nvPr/>
        </p:nvSpPr>
        <p:spPr>
          <a:xfrm>
            <a:off x="640080" y="1828800"/>
            <a:ext cx="5120640" cy="4114800"/>
          </a:xfrm>
          <a:prstGeom prst="roundRect">
            <a:avLst>
              <a:gd name="adj" fmla="val 2667"/>
            </a:avLst>
          </a:prstGeom>
          <a:solidFill>
            <a:srgbClr val="2F2D2A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32" name="Text 3">
            <a:extLst>
              <a:ext uri="{FF2B5EF4-FFF2-40B4-BE49-F238E27FC236}">
                <a16:creationId xmlns:a16="http://schemas.microsoft.com/office/drawing/2014/main" id="{A09D313D-4D65-7A83-ECA3-0AB37357E645}"/>
              </a:ext>
            </a:extLst>
          </p:cNvPr>
          <p:cNvSpPr/>
          <p:nvPr/>
        </p:nvSpPr>
        <p:spPr>
          <a:xfrm>
            <a:off x="914400" y="2103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D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Metodologia de Criação</a:t>
            </a:r>
            <a:endParaRPr lang="en-US" sz="1500" dirty="0"/>
          </a:p>
        </p:txBody>
      </p:sp>
      <p:sp>
        <p:nvSpPr>
          <p:cNvPr id="34" name="Text 4">
            <a:extLst>
              <a:ext uri="{FF2B5EF4-FFF2-40B4-BE49-F238E27FC236}">
                <a16:creationId xmlns:a16="http://schemas.microsoft.com/office/drawing/2014/main" id="{7CDBA6AA-F0F5-C1C1-6A35-B169D6ABB11B}"/>
              </a:ext>
            </a:extLst>
          </p:cNvPr>
          <p:cNvSpPr/>
          <p:nvPr/>
        </p:nvSpPr>
        <p:spPr>
          <a:xfrm>
            <a:off x="914400" y="260604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B8B4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elemento do grupo desenvolveu de forma autónoma a mesma etapa do ciclo de UX. A unificação das diferentes abordagens permitiu desenhar e implementar os ecrãs finais da </a:t>
            </a:r>
            <a:r>
              <a:rPr lang="en-US" sz="1400" dirty="0" err="1">
                <a:solidFill>
                  <a:srgbClr val="B8B4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aplicação</a:t>
            </a:r>
            <a:r>
              <a:rPr lang="en-US" sz="1400" dirty="0">
                <a:solidFill>
                  <a:srgbClr val="B8B4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400" dirty="0"/>
          </a:p>
        </p:txBody>
      </p:sp>
      <p:sp>
        <p:nvSpPr>
          <p:cNvPr id="36" name="Text 5">
            <a:extLst>
              <a:ext uri="{FF2B5EF4-FFF2-40B4-BE49-F238E27FC236}">
                <a16:creationId xmlns:a16="http://schemas.microsoft.com/office/drawing/2014/main" id="{BAE13936-28BE-CB46-2036-300DF0800B72}"/>
              </a:ext>
            </a:extLst>
          </p:cNvPr>
          <p:cNvSpPr/>
          <p:nvPr/>
        </p:nvSpPr>
        <p:spPr>
          <a:xfrm>
            <a:off x="914400" y="4206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D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Benchmark: 17 Track</a:t>
            </a:r>
            <a:endParaRPr lang="en-US" sz="1500" dirty="0"/>
          </a:p>
        </p:txBody>
      </p:sp>
      <p:sp>
        <p:nvSpPr>
          <p:cNvPr id="38" name="Text 6">
            <a:extLst>
              <a:ext uri="{FF2B5EF4-FFF2-40B4-BE49-F238E27FC236}">
                <a16:creationId xmlns:a16="http://schemas.microsoft.com/office/drawing/2014/main" id="{21F20217-0AFD-1A40-EA2D-D28109B9E5C6}"/>
              </a:ext>
            </a:extLst>
          </p:cNvPr>
          <p:cNvSpPr/>
          <p:nvPr/>
        </p:nvSpPr>
        <p:spPr>
          <a:xfrm>
            <a:off x="914400" y="461772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de tracking de encomendas analisada pelas suas heurísticas de Nielsen — regras de negócio próximas do acompanhamento de um veículo em reparação.</a:t>
            </a:r>
            <a:endParaRPr lang="en-US" sz="1300" dirty="0"/>
          </a:p>
        </p:txBody>
      </p:sp>
      <p:sp>
        <p:nvSpPr>
          <p:cNvPr id="40" name="Shape 7">
            <a:extLst>
              <a:ext uri="{FF2B5EF4-FFF2-40B4-BE49-F238E27FC236}">
                <a16:creationId xmlns:a16="http://schemas.microsoft.com/office/drawing/2014/main" id="{1292C8CF-47F1-7548-5EFB-77E466CDADB7}"/>
              </a:ext>
            </a:extLst>
          </p:cNvPr>
          <p:cNvSpPr/>
          <p:nvPr/>
        </p:nvSpPr>
        <p:spPr>
          <a:xfrm>
            <a:off x="6035040" y="1828800"/>
            <a:ext cx="5486400" cy="1965960"/>
          </a:xfrm>
          <a:prstGeom prst="roundRect">
            <a:avLst>
              <a:gd name="adj" fmla="val 5581"/>
            </a:avLst>
          </a:prstGeom>
          <a:solidFill>
            <a:srgbClr val="2F2D2A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42" name="Text 8">
            <a:extLst>
              <a:ext uri="{FF2B5EF4-FFF2-40B4-BE49-F238E27FC236}">
                <a16:creationId xmlns:a16="http://schemas.microsoft.com/office/drawing/2014/main" id="{5F60BDCC-449C-D516-DDED-3403EBE45BC0}"/>
              </a:ext>
            </a:extLst>
          </p:cNvPr>
          <p:cNvSpPr/>
          <p:nvPr/>
        </p:nvSpPr>
        <p:spPr>
          <a:xfrm>
            <a:off x="6309360" y="20116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BD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Pontos Positivos</a:t>
            </a:r>
            <a:endParaRPr lang="en-US" sz="1400" dirty="0"/>
          </a:p>
        </p:txBody>
      </p:sp>
      <p:sp>
        <p:nvSpPr>
          <p:cNvPr id="44" name="Shape 9">
            <a:extLst>
              <a:ext uri="{FF2B5EF4-FFF2-40B4-BE49-F238E27FC236}">
                <a16:creationId xmlns:a16="http://schemas.microsoft.com/office/drawing/2014/main" id="{B5FECCFC-189B-7DDC-A454-A6D2CBCBF606}"/>
              </a:ext>
            </a:extLst>
          </p:cNvPr>
          <p:cNvSpPr/>
          <p:nvPr/>
        </p:nvSpPr>
        <p:spPr>
          <a:xfrm>
            <a:off x="6309360" y="2450592"/>
            <a:ext cx="118872" cy="118872"/>
          </a:xfrm>
          <a:prstGeom prst="ellipse">
            <a:avLst/>
          </a:prstGeom>
          <a:solidFill>
            <a:srgbClr val="FFBD49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46" name="Text 10">
            <a:extLst>
              <a:ext uri="{FF2B5EF4-FFF2-40B4-BE49-F238E27FC236}">
                <a16:creationId xmlns:a16="http://schemas.microsoft.com/office/drawing/2014/main" id="{336909DE-A86F-1D07-47D6-12DEBE61746C}"/>
              </a:ext>
            </a:extLst>
          </p:cNvPr>
          <p:cNvSpPr/>
          <p:nvPr/>
        </p:nvSpPr>
        <p:spPr>
          <a:xfrm>
            <a:off x="6583680" y="23774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Ecrã de boas-vindas claro, com várias formas de login</a:t>
            </a:r>
            <a:endParaRPr lang="en-US" sz="1200" dirty="0"/>
          </a:p>
        </p:txBody>
      </p:sp>
      <p:sp>
        <p:nvSpPr>
          <p:cNvPr id="48" name="Shape 11">
            <a:extLst>
              <a:ext uri="{FF2B5EF4-FFF2-40B4-BE49-F238E27FC236}">
                <a16:creationId xmlns:a16="http://schemas.microsoft.com/office/drawing/2014/main" id="{BAE49239-E656-98CC-8D60-F7013FB47B23}"/>
              </a:ext>
            </a:extLst>
          </p:cNvPr>
          <p:cNvSpPr/>
          <p:nvPr/>
        </p:nvSpPr>
        <p:spPr>
          <a:xfrm>
            <a:off x="6309360" y="2907792"/>
            <a:ext cx="118872" cy="118872"/>
          </a:xfrm>
          <a:prstGeom prst="ellipse">
            <a:avLst/>
          </a:prstGeom>
          <a:solidFill>
            <a:srgbClr val="FFBD49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50" name="Text 12">
            <a:extLst>
              <a:ext uri="{FF2B5EF4-FFF2-40B4-BE49-F238E27FC236}">
                <a16:creationId xmlns:a16="http://schemas.microsoft.com/office/drawing/2014/main" id="{FE048834-373E-9DAD-F1A3-F7D2753AF43E}"/>
              </a:ext>
            </a:extLst>
          </p:cNvPr>
          <p:cNvSpPr/>
          <p:nvPr/>
        </p:nvSpPr>
        <p:spPr>
          <a:xfrm>
            <a:off x="6583680" y="28346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 visibilidade do estado do sistema e mensagens claras</a:t>
            </a:r>
            <a:endParaRPr lang="en-US" sz="1200" dirty="0"/>
          </a:p>
        </p:txBody>
      </p:sp>
      <p:sp>
        <p:nvSpPr>
          <p:cNvPr id="52" name="Shape 13">
            <a:extLst>
              <a:ext uri="{FF2B5EF4-FFF2-40B4-BE49-F238E27FC236}">
                <a16:creationId xmlns:a16="http://schemas.microsoft.com/office/drawing/2014/main" id="{E683AFB0-49E2-E2A4-5609-314D84DA6D83}"/>
              </a:ext>
            </a:extLst>
          </p:cNvPr>
          <p:cNvSpPr/>
          <p:nvPr/>
        </p:nvSpPr>
        <p:spPr>
          <a:xfrm>
            <a:off x="6309360" y="3364992"/>
            <a:ext cx="118872" cy="118872"/>
          </a:xfrm>
          <a:prstGeom prst="ellipse">
            <a:avLst/>
          </a:prstGeom>
          <a:solidFill>
            <a:srgbClr val="FFBD49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54" name="Text 14">
            <a:extLst>
              <a:ext uri="{FF2B5EF4-FFF2-40B4-BE49-F238E27FC236}">
                <a16:creationId xmlns:a16="http://schemas.microsoft.com/office/drawing/2014/main" id="{FAADCF6B-02AB-51F9-9271-DA4E16162E57}"/>
              </a:ext>
            </a:extLst>
          </p:cNvPr>
          <p:cNvSpPr/>
          <p:nvPr/>
        </p:nvSpPr>
        <p:spPr>
          <a:xfrm>
            <a:off x="6583680" y="32918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tolerante a erros de navegação</a:t>
            </a:r>
            <a:endParaRPr lang="en-US" sz="1200" dirty="0"/>
          </a:p>
        </p:txBody>
      </p:sp>
      <p:sp>
        <p:nvSpPr>
          <p:cNvPr id="56" name="Shape 15">
            <a:extLst>
              <a:ext uri="{FF2B5EF4-FFF2-40B4-BE49-F238E27FC236}">
                <a16:creationId xmlns:a16="http://schemas.microsoft.com/office/drawing/2014/main" id="{E26E6363-3FD9-AB02-732B-88E40DA25121}"/>
              </a:ext>
            </a:extLst>
          </p:cNvPr>
          <p:cNvSpPr/>
          <p:nvPr/>
        </p:nvSpPr>
        <p:spPr>
          <a:xfrm>
            <a:off x="6035040" y="3977640"/>
            <a:ext cx="5486400" cy="1965960"/>
          </a:xfrm>
          <a:prstGeom prst="roundRect">
            <a:avLst>
              <a:gd name="adj" fmla="val 5581"/>
            </a:avLst>
          </a:prstGeom>
          <a:solidFill>
            <a:srgbClr val="2F2D2A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58" name="Text 16">
            <a:extLst>
              <a:ext uri="{FF2B5EF4-FFF2-40B4-BE49-F238E27FC236}">
                <a16:creationId xmlns:a16="http://schemas.microsoft.com/office/drawing/2014/main" id="{2C15D659-B35F-2249-3C8B-E25EC6D64B17}"/>
              </a:ext>
            </a:extLst>
          </p:cNvPr>
          <p:cNvSpPr/>
          <p:nvPr/>
        </p:nvSpPr>
        <p:spPr>
          <a:xfrm>
            <a:off x="6309360" y="41605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BD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Pontos a Melhorar</a:t>
            </a:r>
            <a:endParaRPr lang="en-US" sz="1400" dirty="0"/>
          </a:p>
        </p:txBody>
      </p:sp>
      <p:sp>
        <p:nvSpPr>
          <p:cNvPr id="60" name="Shape 17">
            <a:extLst>
              <a:ext uri="{FF2B5EF4-FFF2-40B4-BE49-F238E27FC236}">
                <a16:creationId xmlns:a16="http://schemas.microsoft.com/office/drawing/2014/main" id="{394D697D-E9F7-BBD0-3600-75867FB8F3F5}"/>
              </a:ext>
            </a:extLst>
          </p:cNvPr>
          <p:cNvSpPr/>
          <p:nvPr/>
        </p:nvSpPr>
        <p:spPr>
          <a:xfrm>
            <a:off x="6309360" y="4599432"/>
            <a:ext cx="118872" cy="118872"/>
          </a:xfrm>
          <a:prstGeom prst="ellipse">
            <a:avLst/>
          </a:prstGeom>
          <a:solidFill>
            <a:srgbClr val="FFBD49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62" name="Text 18">
            <a:extLst>
              <a:ext uri="{FF2B5EF4-FFF2-40B4-BE49-F238E27FC236}">
                <a16:creationId xmlns:a16="http://schemas.microsoft.com/office/drawing/2014/main" id="{9441914F-565C-C586-632F-F3430063EF34}"/>
              </a:ext>
            </a:extLst>
          </p:cNvPr>
          <p:cNvSpPr/>
          <p:nvPr/>
        </p:nvSpPr>
        <p:spPr>
          <a:xfrm>
            <a:off x="6583680" y="45262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Google ainda exige criação de conta, sem indicação de passos</a:t>
            </a:r>
            <a:endParaRPr lang="en-US" sz="1200" dirty="0"/>
          </a:p>
        </p:txBody>
      </p:sp>
      <p:sp>
        <p:nvSpPr>
          <p:cNvPr id="64" name="Shape 19">
            <a:extLst>
              <a:ext uri="{FF2B5EF4-FFF2-40B4-BE49-F238E27FC236}">
                <a16:creationId xmlns:a16="http://schemas.microsoft.com/office/drawing/2014/main" id="{828A9CAA-F55C-C3A4-BD93-363E4E6EA13E}"/>
              </a:ext>
            </a:extLst>
          </p:cNvPr>
          <p:cNvSpPr/>
          <p:nvPr/>
        </p:nvSpPr>
        <p:spPr>
          <a:xfrm>
            <a:off x="6309360" y="5056632"/>
            <a:ext cx="118872" cy="118872"/>
          </a:xfrm>
          <a:prstGeom prst="ellipse">
            <a:avLst/>
          </a:prstGeom>
          <a:solidFill>
            <a:srgbClr val="FFBD49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66" name="Text 20">
            <a:extLst>
              <a:ext uri="{FF2B5EF4-FFF2-40B4-BE49-F238E27FC236}">
                <a16:creationId xmlns:a16="http://schemas.microsoft.com/office/drawing/2014/main" id="{8BC2F9C1-8CF4-EAC2-24FB-BCF0E297081D}"/>
              </a:ext>
            </a:extLst>
          </p:cNvPr>
          <p:cNvSpPr/>
          <p:nvPr/>
        </p:nvSpPr>
        <p:spPr>
          <a:xfrm>
            <a:off x="6583680" y="49834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feedback visual ao validar a palavra-passe</a:t>
            </a:r>
            <a:endParaRPr lang="en-US" sz="1200" dirty="0"/>
          </a:p>
        </p:txBody>
      </p:sp>
      <p:sp>
        <p:nvSpPr>
          <p:cNvPr id="68" name="Shape 21">
            <a:extLst>
              <a:ext uri="{FF2B5EF4-FFF2-40B4-BE49-F238E27FC236}">
                <a16:creationId xmlns:a16="http://schemas.microsoft.com/office/drawing/2014/main" id="{9212295F-6163-95D3-CA8F-32A56DFF591E}"/>
              </a:ext>
            </a:extLst>
          </p:cNvPr>
          <p:cNvSpPr/>
          <p:nvPr/>
        </p:nvSpPr>
        <p:spPr>
          <a:xfrm>
            <a:off x="6309360" y="5513832"/>
            <a:ext cx="118872" cy="118872"/>
          </a:xfrm>
          <a:prstGeom prst="ellipse">
            <a:avLst/>
          </a:prstGeom>
          <a:solidFill>
            <a:srgbClr val="FFBD49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70" name="Text 22">
            <a:extLst>
              <a:ext uri="{FF2B5EF4-FFF2-40B4-BE49-F238E27FC236}">
                <a16:creationId xmlns:a16="http://schemas.microsoft.com/office/drawing/2014/main" id="{CA2C9C59-1155-5D3C-A99F-716FCDBFA22D}"/>
              </a:ext>
            </a:extLst>
          </p:cNvPr>
          <p:cNvSpPr/>
          <p:nvPr/>
        </p:nvSpPr>
        <p:spPr>
          <a:xfrm>
            <a:off x="6583680" y="54406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 QR sem instruções nem mensagens de erro</a:t>
            </a:r>
            <a:endParaRPr lang="en-US" sz="1200" dirty="0"/>
          </a:p>
        </p:txBody>
      </p:sp>
      <p:sp>
        <p:nvSpPr>
          <p:cNvPr id="74" name="Text 23">
            <a:extLst>
              <a:ext uri="{FF2B5EF4-FFF2-40B4-BE49-F238E27FC236}">
                <a16:creationId xmlns:a16="http://schemas.microsoft.com/office/drawing/2014/main" id="{10E867E7-566A-6219-CC0A-41B8A9A693A3}"/>
              </a:ext>
            </a:extLst>
          </p:cNvPr>
          <p:cNvSpPr/>
          <p:nvPr/>
        </p:nvSpPr>
        <p:spPr>
          <a:xfrm>
            <a:off x="914400" y="63276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D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Meca </a:t>
            </a: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Móveis</a:t>
            </a:r>
            <a:endParaRPr lang="en-US" sz="1100" dirty="0"/>
          </a:p>
        </p:txBody>
      </p:sp>
      <p:sp>
        <p:nvSpPr>
          <p:cNvPr id="76" name="Text 24">
            <a:extLst>
              <a:ext uri="{FF2B5EF4-FFF2-40B4-BE49-F238E27FC236}">
                <a16:creationId xmlns:a16="http://schemas.microsoft.com/office/drawing/2014/main" id="{D2FA6817-BC1A-F1D1-0469-C828E75B231B}"/>
              </a:ext>
            </a:extLst>
          </p:cNvPr>
          <p:cNvSpPr/>
          <p:nvPr/>
        </p:nvSpPr>
        <p:spPr>
          <a:xfrm>
            <a:off x="7251192" y="63276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Leandro Dionísio · Leandro Pinto · Filipe Viegas</a:t>
            </a:r>
            <a:endParaRPr lang="en-US" sz="1000" dirty="0"/>
          </a:p>
        </p:txBody>
      </p:sp>
      <p:pic>
        <p:nvPicPr>
          <p:cNvPr id="78" name="Image 0" descr="assets/logo.png">
            <a:extLst>
              <a:ext uri="{FF2B5EF4-FFF2-40B4-BE49-F238E27FC236}">
                <a16:creationId xmlns:a16="http://schemas.microsoft.com/office/drawing/2014/main" id="{ECFF7A9B-74B7-66FF-E3BC-8864C921AD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8065" y="6011516"/>
            <a:ext cx="1188147" cy="96477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0">
            <a:extLst>
              <a:ext uri="{FF2B5EF4-FFF2-40B4-BE49-F238E27FC236}">
                <a16:creationId xmlns:a16="http://schemas.microsoft.com/office/drawing/2014/main" id="{B80E5EEF-8B9E-F15F-DD5A-C5E2444626A6}"/>
              </a:ext>
            </a:extLst>
          </p:cNvPr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BD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INTERAÇÃO</a:t>
            </a:r>
            <a:endParaRPr lang="en-US" sz="1300" dirty="0"/>
          </a:p>
        </p:txBody>
      </p:sp>
      <p:sp>
        <p:nvSpPr>
          <p:cNvPr id="13" name="Text 1">
            <a:extLst>
              <a:ext uri="{FF2B5EF4-FFF2-40B4-BE49-F238E27FC236}">
                <a16:creationId xmlns:a16="http://schemas.microsoft.com/office/drawing/2014/main" id="{DB249742-7F5E-DB99-DD83-75A51D4FFF2D}"/>
              </a:ext>
            </a:extLst>
          </p:cNvPr>
          <p:cNvSpPr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Estilo, Dispositivos &amp; Usabilidade</a:t>
            </a:r>
            <a:endParaRPr lang="en-US" sz="4000" dirty="0"/>
          </a:p>
        </p:txBody>
      </p:sp>
      <p:sp>
        <p:nvSpPr>
          <p:cNvPr id="15" name="Shape 2">
            <a:extLst>
              <a:ext uri="{FF2B5EF4-FFF2-40B4-BE49-F238E27FC236}">
                <a16:creationId xmlns:a16="http://schemas.microsoft.com/office/drawing/2014/main" id="{ED122800-62FD-BF68-A94B-EE17F33FB769}"/>
              </a:ext>
            </a:extLst>
          </p:cNvPr>
          <p:cNvSpPr/>
          <p:nvPr/>
        </p:nvSpPr>
        <p:spPr>
          <a:xfrm>
            <a:off x="640080" y="1828800"/>
            <a:ext cx="5120640" cy="4114800"/>
          </a:xfrm>
          <a:prstGeom prst="roundRect">
            <a:avLst>
              <a:gd name="adj" fmla="val 2667"/>
            </a:avLst>
          </a:prstGeom>
          <a:solidFill>
            <a:srgbClr val="2F2D2A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7" name="Text 3">
            <a:extLst>
              <a:ext uri="{FF2B5EF4-FFF2-40B4-BE49-F238E27FC236}">
                <a16:creationId xmlns:a16="http://schemas.microsoft.com/office/drawing/2014/main" id="{9DD0462E-8B5F-8995-B7BA-B10DDC7DF625}"/>
              </a:ext>
            </a:extLst>
          </p:cNvPr>
          <p:cNvSpPr/>
          <p:nvPr/>
        </p:nvSpPr>
        <p:spPr>
          <a:xfrm>
            <a:off x="914400" y="2103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D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Estilo &amp; Dispositivo</a:t>
            </a:r>
            <a:endParaRPr lang="en-US" sz="1500" dirty="0"/>
          </a:p>
        </p:txBody>
      </p:sp>
      <p:sp>
        <p:nvSpPr>
          <p:cNvPr id="19" name="Text 4">
            <a:extLst>
              <a:ext uri="{FF2B5EF4-FFF2-40B4-BE49-F238E27FC236}">
                <a16:creationId xmlns:a16="http://schemas.microsoft.com/office/drawing/2014/main" id="{4A7B7740-EAD2-44C0-9D2B-8A5A6143DB88}"/>
              </a:ext>
            </a:extLst>
          </p:cNvPr>
          <p:cNvSpPr/>
          <p:nvPr/>
        </p:nvSpPr>
        <p:spPr>
          <a:xfrm>
            <a:off x="914400" y="26060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B8B4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interação combina manipulação direta com menus organizados, otimizada para smartphone com ecrã tátil.</a:t>
            </a:r>
            <a:endParaRPr lang="en-US" sz="1400" dirty="0"/>
          </a:p>
        </p:txBody>
      </p:sp>
      <p:sp>
        <p:nvSpPr>
          <p:cNvPr id="21" name="Shape 5">
            <a:extLst>
              <a:ext uri="{FF2B5EF4-FFF2-40B4-BE49-F238E27FC236}">
                <a16:creationId xmlns:a16="http://schemas.microsoft.com/office/drawing/2014/main" id="{02245EC5-56E5-122B-9E92-D6DC873E69D2}"/>
              </a:ext>
            </a:extLst>
          </p:cNvPr>
          <p:cNvSpPr/>
          <p:nvPr/>
        </p:nvSpPr>
        <p:spPr>
          <a:xfrm>
            <a:off x="914400" y="3639312"/>
            <a:ext cx="118872" cy="118872"/>
          </a:xfrm>
          <a:prstGeom prst="ellipse">
            <a:avLst/>
          </a:prstGeom>
          <a:solidFill>
            <a:srgbClr val="FFBD49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23" name="Text 6">
            <a:extLst>
              <a:ext uri="{FF2B5EF4-FFF2-40B4-BE49-F238E27FC236}">
                <a16:creationId xmlns:a16="http://schemas.microsoft.com/office/drawing/2014/main" id="{D05D612E-4476-0313-ECBD-BC29D1B52DBA}"/>
              </a:ext>
            </a:extLst>
          </p:cNvPr>
          <p:cNvSpPr/>
          <p:nvPr/>
        </p:nvSpPr>
        <p:spPr>
          <a:xfrm>
            <a:off x="1188720" y="356616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BD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Mecânico — </a:t>
            </a:r>
            <a:r>
              <a:rPr lang="en-US" sz="1300" dirty="0">
                <a:solidFill>
                  <a:srgbClr val="B8B4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elementos de interação destacados, acesso rápido às tarefas</a:t>
            </a:r>
            <a:endParaRPr lang="en-US" sz="1300" dirty="0"/>
          </a:p>
        </p:txBody>
      </p:sp>
      <p:sp>
        <p:nvSpPr>
          <p:cNvPr id="25" name="Shape 7">
            <a:extLst>
              <a:ext uri="{FF2B5EF4-FFF2-40B4-BE49-F238E27FC236}">
                <a16:creationId xmlns:a16="http://schemas.microsoft.com/office/drawing/2014/main" id="{403AAF2C-080D-C350-705F-C90BA34AB087}"/>
              </a:ext>
            </a:extLst>
          </p:cNvPr>
          <p:cNvSpPr/>
          <p:nvPr/>
        </p:nvSpPr>
        <p:spPr>
          <a:xfrm>
            <a:off x="914400" y="4507992"/>
            <a:ext cx="118872" cy="118872"/>
          </a:xfrm>
          <a:prstGeom prst="ellipse">
            <a:avLst/>
          </a:prstGeom>
          <a:solidFill>
            <a:srgbClr val="FFBD49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27" name="Text 8">
            <a:extLst>
              <a:ext uri="{FF2B5EF4-FFF2-40B4-BE49-F238E27FC236}">
                <a16:creationId xmlns:a16="http://schemas.microsoft.com/office/drawing/2014/main" id="{7BB3FBD1-AEF9-03BA-A521-F2F329AA27F3}"/>
              </a:ext>
            </a:extLst>
          </p:cNvPr>
          <p:cNvSpPr/>
          <p:nvPr/>
        </p:nvSpPr>
        <p:spPr>
          <a:xfrm>
            <a:off x="1188720" y="443484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BD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— </a:t>
            </a:r>
            <a:r>
              <a:rPr lang="en-US" sz="1300" dirty="0">
                <a:solidFill>
                  <a:srgbClr val="B8B4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foco no acompanhamento simples do estado da reparação</a:t>
            </a:r>
            <a:endParaRPr lang="en-US" sz="1300" dirty="0"/>
          </a:p>
        </p:txBody>
      </p:sp>
      <p:sp>
        <p:nvSpPr>
          <p:cNvPr id="29" name="Shape 9">
            <a:extLst>
              <a:ext uri="{FF2B5EF4-FFF2-40B4-BE49-F238E27FC236}">
                <a16:creationId xmlns:a16="http://schemas.microsoft.com/office/drawing/2014/main" id="{EC75A22D-A57D-5BA6-C70B-6F2C8EF22101}"/>
              </a:ext>
            </a:extLst>
          </p:cNvPr>
          <p:cNvSpPr/>
          <p:nvPr/>
        </p:nvSpPr>
        <p:spPr>
          <a:xfrm>
            <a:off x="6035040" y="1828800"/>
            <a:ext cx="5486400" cy="4114800"/>
          </a:xfrm>
          <a:prstGeom prst="roundRect">
            <a:avLst>
              <a:gd name="adj" fmla="val 2667"/>
            </a:avLst>
          </a:prstGeom>
          <a:solidFill>
            <a:srgbClr val="2F2D2A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31" name="Text 10">
            <a:extLst>
              <a:ext uri="{FF2B5EF4-FFF2-40B4-BE49-F238E27FC236}">
                <a16:creationId xmlns:a16="http://schemas.microsoft.com/office/drawing/2014/main" id="{1E0DFB98-0E02-907A-3F28-F7393B2A3B1A}"/>
              </a:ext>
            </a:extLst>
          </p:cNvPr>
          <p:cNvSpPr/>
          <p:nvPr/>
        </p:nvSpPr>
        <p:spPr>
          <a:xfrm>
            <a:off x="6309360" y="21031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D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Princípios de Usabilidade</a:t>
            </a:r>
            <a:endParaRPr lang="en-US" sz="1500" dirty="0"/>
          </a:p>
        </p:txBody>
      </p:sp>
      <p:sp>
        <p:nvSpPr>
          <p:cNvPr id="33" name="Shape 11">
            <a:extLst>
              <a:ext uri="{FF2B5EF4-FFF2-40B4-BE49-F238E27FC236}">
                <a16:creationId xmlns:a16="http://schemas.microsoft.com/office/drawing/2014/main" id="{7CEECF51-D0F1-7928-FE32-3C1C1DD224D7}"/>
              </a:ext>
            </a:extLst>
          </p:cNvPr>
          <p:cNvSpPr/>
          <p:nvPr/>
        </p:nvSpPr>
        <p:spPr>
          <a:xfrm>
            <a:off x="6309360" y="2679192"/>
            <a:ext cx="118872" cy="118872"/>
          </a:xfrm>
          <a:prstGeom prst="ellipse">
            <a:avLst/>
          </a:prstGeom>
          <a:solidFill>
            <a:srgbClr val="FFBD49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35" name="Text 12">
            <a:extLst>
              <a:ext uri="{FF2B5EF4-FFF2-40B4-BE49-F238E27FC236}">
                <a16:creationId xmlns:a16="http://schemas.microsoft.com/office/drawing/2014/main" id="{A7C1950A-3E21-CF60-E0BA-9042621BA1EC}"/>
              </a:ext>
            </a:extLst>
          </p:cNvPr>
          <p:cNvSpPr/>
          <p:nvPr/>
        </p:nvSpPr>
        <p:spPr>
          <a:xfrm>
            <a:off x="6583680" y="2606040"/>
            <a:ext cx="4663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BD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Consistência — </a:t>
            </a:r>
            <a:r>
              <a:rPr lang="en-US" sz="1200" dirty="0">
                <a:solidFill>
                  <a:srgbClr val="B8B4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botões, cores e menus mantêm o mesmo padrão em toda a app</a:t>
            </a:r>
            <a:endParaRPr lang="en-US" sz="1200" dirty="0"/>
          </a:p>
        </p:txBody>
      </p:sp>
      <p:sp>
        <p:nvSpPr>
          <p:cNvPr id="37" name="Shape 13">
            <a:extLst>
              <a:ext uri="{FF2B5EF4-FFF2-40B4-BE49-F238E27FC236}">
                <a16:creationId xmlns:a16="http://schemas.microsoft.com/office/drawing/2014/main" id="{48955454-745F-6B81-523F-2CA551F370F9}"/>
              </a:ext>
            </a:extLst>
          </p:cNvPr>
          <p:cNvSpPr/>
          <p:nvPr/>
        </p:nvSpPr>
        <p:spPr>
          <a:xfrm>
            <a:off x="6309360" y="3300984"/>
            <a:ext cx="118872" cy="118872"/>
          </a:xfrm>
          <a:prstGeom prst="ellipse">
            <a:avLst/>
          </a:prstGeom>
          <a:solidFill>
            <a:srgbClr val="FFBD49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39" name="Text 14">
            <a:extLst>
              <a:ext uri="{FF2B5EF4-FFF2-40B4-BE49-F238E27FC236}">
                <a16:creationId xmlns:a16="http://schemas.microsoft.com/office/drawing/2014/main" id="{A7278C7E-2667-BCD2-BA1C-63EE6F8324AD}"/>
              </a:ext>
            </a:extLst>
          </p:cNvPr>
          <p:cNvSpPr/>
          <p:nvPr/>
        </p:nvSpPr>
        <p:spPr>
          <a:xfrm>
            <a:off x="6583680" y="3227832"/>
            <a:ext cx="4663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BD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Compatibilidade — </a:t>
            </a:r>
            <a:r>
              <a:rPr lang="en-US" sz="1200" dirty="0">
                <a:solidFill>
                  <a:srgbClr val="B8B4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linguagem próxima do utilizador ("As Minhas Reparações")</a:t>
            </a:r>
            <a:endParaRPr lang="en-US" sz="1200" dirty="0"/>
          </a:p>
        </p:txBody>
      </p:sp>
      <p:sp>
        <p:nvSpPr>
          <p:cNvPr id="41" name="Shape 15">
            <a:extLst>
              <a:ext uri="{FF2B5EF4-FFF2-40B4-BE49-F238E27FC236}">
                <a16:creationId xmlns:a16="http://schemas.microsoft.com/office/drawing/2014/main" id="{3FF0CB3D-E0D8-F1DA-D5A4-9A0282DAED51}"/>
              </a:ext>
            </a:extLst>
          </p:cNvPr>
          <p:cNvSpPr/>
          <p:nvPr/>
        </p:nvSpPr>
        <p:spPr>
          <a:xfrm>
            <a:off x="6309360" y="3922776"/>
            <a:ext cx="118872" cy="118872"/>
          </a:xfrm>
          <a:prstGeom prst="ellipse">
            <a:avLst/>
          </a:prstGeom>
          <a:solidFill>
            <a:srgbClr val="FFBD49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43" name="Text 16">
            <a:extLst>
              <a:ext uri="{FF2B5EF4-FFF2-40B4-BE49-F238E27FC236}">
                <a16:creationId xmlns:a16="http://schemas.microsoft.com/office/drawing/2014/main" id="{8EAFF87E-2C0D-F23A-4B3F-1E8C56A43B96}"/>
              </a:ext>
            </a:extLst>
          </p:cNvPr>
          <p:cNvSpPr/>
          <p:nvPr/>
        </p:nvSpPr>
        <p:spPr>
          <a:xfrm>
            <a:off x="6583680" y="3849624"/>
            <a:ext cx="4663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BD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Visibilidade do estado — </a:t>
            </a:r>
            <a:r>
              <a:rPr lang="en-US" sz="1200" dirty="0">
                <a:solidFill>
                  <a:srgbClr val="B8B4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imediato em cada ação, evita cliques repetidos</a:t>
            </a:r>
            <a:endParaRPr lang="en-US" sz="1200" dirty="0"/>
          </a:p>
        </p:txBody>
      </p:sp>
      <p:sp>
        <p:nvSpPr>
          <p:cNvPr id="45" name="Shape 17">
            <a:extLst>
              <a:ext uri="{FF2B5EF4-FFF2-40B4-BE49-F238E27FC236}">
                <a16:creationId xmlns:a16="http://schemas.microsoft.com/office/drawing/2014/main" id="{D23BEB15-EB47-42FF-01DD-DF69A42C8400}"/>
              </a:ext>
            </a:extLst>
          </p:cNvPr>
          <p:cNvSpPr/>
          <p:nvPr/>
        </p:nvSpPr>
        <p:spPr>
          <a:xfrm>
            <a:off x="6309360" y="4544568"/>
            <a:ext cx="118872" cy="118872"/>
          </a:xfrm>
          <a:prstGeom prst="ellipse">
            <a:avLst/>
          </a:prstGeom>
          <a:solidFill>
            <a:srgbClr val="FFBD49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47" name="Text 18">
            <a:extLst>
              <a:ext uri="{FF2B5EF4-FFF2-40B4-BE49-F238E27FC236}">
                <a16:creationId xmlns:a16="http://schemas.microsoft.com/office/drawing/2014/main" id="{0B6C3CC8-CD99-DED3-00CD-393B87AB6240}"/>
              </a:ext>
            </a:extLst>
          </p:cNvPr>
          <p:cNvSpPr/>
          <p:nvPr/>
        </p:nvSpPr>
        <p:spPr>
          <a:xfrm>
            <a:off x="6583680" y="4471416"/>
            <a:ext cx="4663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BD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Reconhecimento — </a:t>
            </a:r>
            <a:r>
              <a:rPr lang="en-US" sz="1200" dirty="0">
                <a:solidFill>
                  <a:srgbClr val="B8B4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cartão-resumo do veículo sempre visível, sem exigir memorização</a:t>
            </a:r>
            <a:endParaRPr lang="en-US" sz="1200" dirty="0"/>
          </a:p>
        </p:txBody>
      </p:sp>
      <p:sp>
        <p:nvSpPr>
          <p:cNvPr id="49" name="Shape 19">
            <a:extLst>
              <a:ext uri="{FF2B5EF4-FFF2-40B4-BE49-F238E27FC236}">
                <a16:creationId xmlns:a16="http://schemas.microsoft.com/office/drawing/2014/main" id="{895F4085-5181-ABB3-7E70-EC9F81E5A7BB}"/>
              </a:ext>
            </a:extLst>
          </p:cNvPr>
          <p:cNvSpPr/>
          <p:nvPr/>
        </p:nvSpPr>
        <p:spPr>
          <a:xfrm>
            <a:off x="6309360" y="5166360"/>
            <a:ext cx="118872" cy="118872"/>
          </a:xfrm>
          <a:prstGeom prst="ellipse">
            <a:avLst/>
          </a:prstGeom>
          <a:solidFill>
            <a:srgbClr val="FFBD49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51" name="Text 20">
            <a:extLst>
              <a:ext uri="{FF2B5EF4-FFF2-40B4-BE49-F238E27FC236}">
                <a16:creationId xmlns:a16="http://schemas.microsoft.com/office/drawing/2014/main" id="{E80A1086-0D1A-2434-8F6E-7398E6442B5B}"/>
              </a:ext>
            </a:extLst>
          </p:cNvPr>
          <p:cNvSpPr/>
          <p:nvPr/>
        </p:nvSpPr>
        <p:spPr>
          <a:xfrm>
            <a:off x="6583680" y="5093208"/>
            <a:ext cx="4663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BD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Prevenção de erros — </a:t>
            </a:r>
            <a:r>
              <a:rPr lang="en-US" sz="1200" dirty="0">
                <a:solidFill>
                  <a:srgbClr val="B8B4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submissão bloqueada até preencher os campos obrigatórios</a:t>
            </a:r>
            <a:endParaRPr lang="en-US" sz="1200" dirty="0"/>
          </a:p>
        </p:txBody>
      </p:sp>
      <p:sp>
        <p:nvSpPr>
          <p:cNvPr id="55" name="Text 21">
            <a:extLst>
              <a:ext uri="{FF2B5EF4-FFF2-40B4-BE49-F238E27FC236}">
                <a16:creationId xmlns:a16="http://schemas.microsoft.com/office/drawing/2014/main" id="{3923552E-7B75-3EF8-88A4-2A05ED5E7229}"/>
              </a:ext>
            </a:extLst>
          </p:cNvPr>
          <p:cNvSpPr/>
          <p:nvPr/>
        </p:nvSpPr>
        <p:spPr>
          <a:xfrm>
            <a:off x="914400" y="63276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D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Meca </a:t>
            </a: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Móveis</a:t>
            </a:r>
            <a:endParaRPr lang="en-US" sz="1100" dirty="0"/>
          </a:p>
        </p:txBody>
      </p:sp>
      <p:sp>
        <p:nvSpPr>
          <p:cNvPr id="57" name="Text 22">
            <a:extLst>
              <a:ext uri="{FF2B5EF4-FFF2-40B4-BE49-F238E27FC236}">
                <a16:creationId xmlns:a16="http://schemas.microsoft.com/office/drawing/2014/main" id="{0CF06912-CD95-C002-135D-99043AB26929}"/>
              </a:ext>
            </a:extLst>
          </p:cNvPr>
          <p:cNvSpPr/>
          <p:nvPr/>
        </p:nvSpPr>
        <p:spPr>
          <a:xfrm>
            <a:off x="7251192" y="63276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Leandro Dionísio · Leandro Pinto · Filipe Viegas</a:t>
            </a:r>
            <a:endParaRPr lang="en-US" sz="1000" dirty="0"/>
          </a:p>
        </p:txBody>
      </p:sp>
      <p:pic>
        <p:nvPicPr>
          <p:cNvPr id="59" name="Image 0" descr="assets/logo.png">
            <a:extLst>
              <a:ext uri="{FF2B5EF4-FFF2-40B4-BE49-F238E27FC236}">
                <a16:creationId xmlns:a16="http://schemas.microsoft.com/office/drawing/2014/main" id="{DC066496-E9F1-0B6C-FB28-FE5E501DBB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8065" y="6011516"/>
            <a:ext cx="1188147" cy="96477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0">
            <a:extLst>
              <a:ext uri="{FF2B5EF4-FFF2-40B4-BE49-F238E27FC236}">
                <a16:creationId xmlns:a16="http://schemas.microsoft.com/office/drawing/2014/main" id="{D1D5ED91-E37E-1695-1F5B-586270FD97BD}"/>
              </a:ext>
            </a:extLst>
          </p:cNvPr>
          <p:cNvSpPr/>
          <p:nvPr/>
        </p:nvSpPr>
        <p:spPr>
          <a:xfrm>
            <a:off x="640080" y="2651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BD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CAPÍTULO 04</a:t>
            </a:r>
            <a:endParaRPr lang="en-US" sz="1300" dirty="0"/>
          </a:p>
        </p:txBody>
      </p:sp>
      <p:sp>
        <p:nvSpPr>
          <p:cNvPr id="13" name="Text 1">
            <a:extLst>
              <a:ext uri="{FF2B5EF4-FFF2-40B4-BE49-F238E27FC236}">
                <a16:creationId xmlns:a16="http://schemas.microsoft.com/office/drawing/2014/main" id="{4617BEEC-64CA-E1E4-1722-5B111B59D9B1}"/>
              </a:ext>
            </a:extLst>
          </p:cNvPr>
          <p:cNvSpPr/>
          <p:nvPr/>
        </p:nvSpPr>
        <p:spPr>
          <a:xfrm>
            <a:off x="594360" y="3017520"/>
            <a:ext cx="8229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Arquitetura &amp;</a:t>
            </a:r>
            <a:endParaRPr lang="en-US" sz="4600" dirty="0"/>
          </a:p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 Dados</a:t>
            </a:r>
            <a:endParaRPr lang="en-US" sz="4600" dirty="0"/>
          </a:p>
        </p:txBody>
      </p:sp>
      <p:sp>
        <p:nvSpPr>
          <p:cNvPr id="15" name="Text 2">
            <a:extLst>
              <a:ext uri="{FF2B5EF4-FFF2-40B4-BE49-F238E27FC236}">
                <a16:creationId xmlns:a16="http://schemas.microsoft.com/office/drawing/2014/main" id="{B0936D07-7834-9146-9C3C-95F9980B4808}"/>
              </a:ext>
            </a:extLst>
          </p:cNvPr>
          <p:cNvSpPr/>
          <p:nvPr/>
        </p:nvSpPr>
        <p:spPr>
          <a:xfrm>
            <a:off x="9811512" y="502920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0" dirty="0"/>
          </a:p>
        </p:txBody>
      </p:sp>
      <p:sp>
        <p:nvSpPr>
          <p:cNvPr id="19" name="Text 3">
            <a:extLst>
              <a:ext uri="{FF2B5EF4-FFF2-40B4-BE49-F238E27FC236}">
                <a16:creationId xmlns:a16="http://schemas.microsoft.com/office/drawing/2014/main" id="{F12F9DE1-5451-9132-645A-128E4DDAB6BF}"/>
              </a:ext>
            </a:extLst>
          </p:cNvPr>
          <p:cNvSpPr/>
          <p:nvPr/>
        </p:nvSpPr>
        <p:spPr>
          <a:xfrm>
            <a:off x="914400" y="63276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D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Meca </a:t>
            </a: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Móveis</a:t>
            </a:r>
            <a:endParaRPr lang="en-US" sz="1100" dirty="0"/>
          </a:p>
        </p:txBody>
      </p:sp>
      <p:sp>
        <p:nvSpPr>
          <p:cNvPr id="21" name="Text 4">
            <a:extLst>
              <a:ext uri="{FF2B5EF4-FFF2-40B4-BE49-F238E27FC236}">
                <a16:creationId xmlns:a16="http://schemas.microsoft.com/office/drawing/2014/main" id="{AB335972-E7D8-D40C-EDFC-DDF8DE5C8276}"/>
              </a:ext>
            </a:extLst>
          </p:cNvPr>
          <p:cNvSpPr/>
          <p:nvPr/>
        </p:nvSpPr>
        <p:spPr>
          <a:xfrm>
            <a:off x="7251192" y="63276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Leandro Dionísio · Leandro Pinto · Filipe Viegas</a:t>
            </a:r>
            <a:endParaRPr lang="en-US" sz="1000" dirty="0"/>
          </a:p>
        </p:txBody>
      </p:sp>
      <p:pic>
        <p:nvPicPr>
          <p:cNvPr id="23" name="Image 0" descr="assets/logo.png">
            <a:extLst>
              <a:ext uri="{FF2B5EF4-FFF2-40B4-BE49-F238E27FC236}">
                <a16:creationId xmlns:a16="http://schemas.microsoft.com/office/drawing/2014/main" id="{0004F9C7-CBF0-B55B-3FE0-334AED0660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8065" y="6011516"/>
            <a:ext cx="1188147" cy="96477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4F17CC87-0C9A-ACC1-EC55-0BE48CC5A0F1}"/>
              </a:ext>
            </a:extLst>
          </p:cNvPr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BD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ARQUITETURA DE SOFTWARE</a:t>
            </a:r>
            <a:endParaRPr lang="en-US" sz="13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71A230A3-A184-BE86-4780-ADF9058EE845}"/>
              </a:ext>
            </a:extLst>
          </p:cNvPr>
          <p:cNvSpPr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Arquitetura MVVM</a:t>
            </a:r>
            <a:endParaRPr lang="en-US" sz="4000" dirty="0"/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A6B30FE5-EE19-E3B5-0B55-7BFB7EF2B3B8}"/>
              </a:ext>
            </a:extLst>
          </p:cNvPr>
          <p:cNvSpPr/>
          <p:nvPr/>
        </p:nvSpPr>
        <p:spPr>
          <a:xfrm>
            <a:off x="640080" y="2103120"/>
            <a:ext cx="2011680" cy="3291840"/>
          </a:xfrm>
          <a:prstGeom prst="roundRect">
            <a:avLst>
              <a:gd name="adj" fmla="val 5455"/>
            </a:avLst>
          </a:prstGeom>
          <a:solidFill>
            <a:srgbClr val="2F2D2A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E842BFAB-24F3-D0ED-32A8-5A4BA4045C27}"/>
              </a:ext>
            </a:extLst>
          </p:cNvPr>
          <p:cNvSpPr/>
          <p:nvPr/>
        </p:nvSpPr>
        <p:spPr>
          <a:xfrm>
            <a:off x="804672" y="2331720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BD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1600" dirty="0"/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971B662A-D11D-9D60-D7E4-1E2C09E96055}"/>
              </a:ext>
            </a:extLst>
          </p:cNvPr>
          <p:cNvSpPr/>
          <p:nvPr/>
        </p:nvSpPr>
        <p:spPr>
          <a:xfrm>
            <a:off x="804672" y="2880360"/>
            <a:ext cx="168249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B8B4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Entidades Room que definem o esquema (v10) da base de dados local</a:t>
            </a:r>
            <a:endParaRPr lang="en-US" sz="1150" dirty="0"/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443184BC-6A78-DAB4-929F-3EBA6AA250ED}"/>
              </a:ext>
            </a:extLst>
          </p:cNvPr>
          <p:cNvSpPr/>
          <p:nvPr/>
        </p:nvSpPr>
        <p:spPr>
          <a:xfrm>
            <a:off x="2684023" y="3520440"/>
            <a:ext cx="1000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BD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6">
            <a:extLst>
              <a:ext uri="{FF2B5EF4-FFF2-40B4-BE49-F238E27FC236}">
                <a16:creationId xmlns:a16="http://schemas.microsoft.com/office/drawing/2014/main" id="{F93D072D-39A2-F32A-7F77-A4477E742710}"/>
              </a:ext>
            </a:extLst>
          </p:cNvPr>
          <p:cNvSpPr/>
          <p:nvPr/>
        </p:nvSpPr>
        <p:spPr>
          <a:xfrm>
            <a:off x="2816352" y="2103120"/>
            <a:ext cx="2011680" cy="3291840"/>
          </a:xfrm>
          <a:prstGeom prst="roundRect">
            <a:avLst>
              <a:gd name="adj" fmla="val 5455"/>
            </a:avLst>
          </a:prstGeom>
          <a:solidFill>
            <a:srgbClr val="2F2D2A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A10A5B0E-DB41-4818-FE01-9F15AB060200}"/>
              </a:ext>
            </a:extLst>
          </p:cNvPr>
          <p:cNvSpPr/>
          <p:nvPr/>
        </p:nvSpPr>
        <p:spPr>
          <a:xfrm>
            <a:off x="2980944" y="2331720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BD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DAO</a:t>
            </a:r>
            <a:endParaRPr lang="en-US" sz="1600" dirty="0"/>
          </a:p>
        </p:txBody>
      </p:sp>
      <p:sp>
        <p:nvSpPr>
          <p:cNvPr id="19" name="Text 8">
            <a:extLst>
              <a:ext uri="{FF2B5EF4-FFF2-40B4-BE49-F238E27FC236}">
                <a16:creationId xmlns:a16="http://schemas.microsoft.com/office/drawing/2014/main" id="{56C0FF68-1860-B77B-2762-2FD2C60B20E3}"/>
              </a:ext>
            </a:extLst>
          </p:cNvPr>
          <p:cNvSpPr/>
          <p:nvPr/>
        </p:nvSpPr>
        <p:spPr>
          <a:xfrm>
            <a:off x="2980944" y="2880360"/>
            <a:ext cx="168249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B8B4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Consultas SQL diretas às tabelas — inserção, atualização e leitura</a:t>
            </a:r>
            <a:endParaRPr lang="en-US" sz="1150" dirty="0"/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444B136F-4D6C-FB26-15C5-E153F43461D2}"/>
              </a:ext>
            </a:extLst>
          </p:cNvPr>
          <p:cNvSpPr/>
          <p:nvPr/>
        </p:nvSpPr>
        <p:spPr>
          <a:xfrm>
            <a:off x="4828032" y="352044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BD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Shape 10">
            <a:extLst>
              <a:ext uri="{FF2B5EF4-FFF2-40B4-BE49-F238E27FC236}">
                <a16:creationId xmlns:a16="http://schemas.microsoft.com/office/drawing/2014/main" id="{9AFDC4C0-30D9-F76E-37CF-92618AA6C306}"/>
              </a:ext>
            </a:extLst>
          </p:cNvPr>
          <p:cNvSpPr/>
          <p:nvPr/>
        </p:nvSpPr>
        <p:spPr>
          <a:xfrm>
            <a:off x="4992624" y="2103120"/>
            <a:ext cx="2011680" cy="3291840"/>
          </a:xfrm>
          <a:prstGeom prst="roundRect">
            <a:avLst>
              <a:gd name="adj" fmla="val 5455"/>
            </a:avLst>
          </a:prstGeom>
          <a:solidFill>
            <a:srgbClr val="2F2D2A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263307C3-E588-E3BD-751C-4172B912A9C8}"/>
              </a:ext>
            </a:extLst>
          </p:cNvPr>
          <p:cNvSpPr/>
          <p:nvPr/>
        </p:nvSpPr>
        <p:spPr>
          <a:xfrm>
            <a:off x="5157216" y="2331720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BD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DTO</a:t>
            </a:r>
            <a:endParaRPr lang="en-US" sz="1600" dirty="0"/>
          </a:p>
        </p:txBody>
      </p:sp>
      <p:sp>
        <p:nvSpPr>
          <p:cNvPr id="27" name="Text 12">
            <a:extLst>
              <a:ext uri="{FF2B5EF4-FFF2-40B4-BE49-F238E27FC236}">
                <a16:creationId xmlns:a16="http://schemas.microsoft.com/office/drawing/2014/main" id="{D5EFBA08-25B6-C3E8-CDAF-4DE3E1F6EC04}"/>
              </a:ext>
            </a:extLst>
          </p:cNvPr>
          <p:cNvSpPr/>
          <p:nvPr/>
        </p:nvSpPr>
        <p:spPr>
          <a:xfrm>
            <a:off x="5157216" y="2880360"/>
            <a:ext cx="168249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B8B4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dados de várias tabelas quando o DAO sozinho não chega</a:t>
            </a:r>
            <a:endParaRPr lang="en-US" sz="1150" dirty="0"/>
          </a:p>
        </p:txBody>
      </p:sp>
      <p:sp>
        <p:nvSpPr>
          <p:cNvPr id="29" name="Text 13">
            <a:extLst>
              <a:ext uri="{FF2B5EF4-FFF2-40B4-BE49-F238E27FC236}">
                <a16:creationId xmlns:a16="http://schemas.microsoft.com/office/drawing/2014/main" id="{1377F6B9-B17E-0BF8-79EB-D442134B6203}"/>
              </a:ext>
            </a:extLst>
          </p:cNvPr>
          <p:cNvSpPr/>
          <p:nvPr/>
        </p:nvSpPr>
        <p:spPr>
          <a:xfrm>
            <a:off x="7004304" y="352044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BD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31" name="Shape 14">
            <a:extLst>
              <a:ext uri="{FF2B5EF4-FFF2-40B4-BE49-F238E27FC236}">
                <a16:creationId xmlns:a16="http://schemas.microsoft.com/office/drawing/2014/main" id="{7369D403-0B00-B014-5E47-5701A6813B70}"/>
              </a:ext>
            </a:extLst>
          </p:cNvPr>
          <p:cNvSpPr/>
          <p:nvPr/>
        </p:nvSpPr>
        <p:spPr>
          <a:xfrm>
            <a:off x="7168896" y="2103120"/>
            <a:ext cx="2011680" cy="3291840"/>
          </a:xfrm>
          <a:prstGeom prst="roundRect">
            <a:avLst>
              <a:gd name="adj" fmla="val 5455"/>
            </a:avLst>
          </a:prstGeom>
          <a:solidFill>
            <a:srgbClr val="2F2D2A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33" name="Text 15">
            <a:extLst>
              <a:ext uri="{FF2B5EF4-FFF2-40B4-BE49-F238E27FC236}">
                <a16:creationId xmlns:a16="http://schemas.microsoft.com/office/drawing/2014/main" id="{32437CA9-B23E-2207-9D7C-C55084853504}"/>
              </a:ext>
            </a:extLst>
          </p:cNvPr>
          <p:cNvSpPr/>
          <p:nvPr/>
        </p:nvSpPr>
        <p:spPr>
          <a:xfrm>
            <a:off x="7333488" y="2331720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BD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ViewModel</a:t>
            </a:r>
            <a:endParaRPr lang="en-US" sz="1600" dirty="0"/>
          </a:p>
        </p:txBody>
      </p:sp>
      <p:sp>
        <p:nvSpPr>
          <p:cNvPr id="35" name="Text 16">
            <a:extLst>
              <a:ext uri="{FF2B5EF4-FFF2-40B4-BE49-F238E27FC236}">
                <a16:creationId xmlns:a16="http://schemas.microsoft.com/office/drawing/2014/main" id="{FE5CF007-B2E3-3115-3CE1-0F9551061716}"/>
              </a:ext>
            </a:extLst>
          </p:cNvPr>
          <p:cNvSpPr/>
          <p:nvPr/>
        </p:nvSpPr>
        <p:spPr>
          <a:xfrm>
            <a:off x="7333488" y="2880360"/>
            <a:ext cx="168249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B8B4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Estados reativos (Flow) e regras de negócio da interface</a:t>
            </a:r>
            <a:endParaRPr lang="en-US" sz="1150" dirty="0"/>
          </a:p>
        </p:txBody>
      </p:sp>
      <p:sp>
        <p:nvSpPr>
          <p:cNvPr id="37" name="Text 17">
            <a:extLst>
              <a:ext uri="{FF2B5EF4-FFF2-40B4-BE49-F238E27FC236}">
                <a16:creationId xmlns:a16="http://schemas.microsoft.com/office/drawing/2014/main" id="{FCACC430-8EF7-9098-A384-4A4873F7B3F6}"/>
              </a:ext>
            </a:extLst>
          </p:cNvPr>
          <p:cNvSpPr/>
          <p:nvPr/>
        </p:nvSpPr>
        <p:spPr>
          <a:xfrm>
            <a:off x="9180576" y="352044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BD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39" name="Shape 18">
            <a:extLst>
              <a:ext uri="{FF2B5EF4-FFF2-40B4-BE49-F238E27FC236}">
                <a16:creationId xmlns:a16="http://schemas.microsoft.com/office/drawing/2014/main" id="{60633F26-4325-C02C-4A3D-0EDD3DFF1F02}"/>
              </a:ext>
            </a:extLst>
          </p:cNvPr>
          <p:cNvSpPr/>
          <p:nvPr/>
        </p:nvSpPr>
        <p:spPr>
          <a:xfrm>
            <a:off x="9345168" y="2103120"/>
            <a:ext cx="2011680" cy="3291840"/>
          </a:xfrm>
          <a:prstGeom prst="roundRect">
            <a:avLst>
              <a:gd name="adj" fmla="val 5455"/>
            </a:avLst>
          </a:prstGeom>
          <a:solidFill>
            <a:srgbClr val="2F2D2A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41" name="Text 19">
            <a:extLst>
              <a:ext uri="{FF2B5EF4-FFF2-40B4-BE49-F238E27FC236}">
                <a16:creationId xmlns:a16="http://schemas.microsoft.com/office/drawing/2014/main" id="{E98D4EF0-7C72-FEEA-FDC1-935DEB29A0D7}"/>
              </a:ext>
            </a:extLst>
          </p:cNvPr>
          <p:cNvSpPr/>
          <p:nvPr/>
        </p:nvSpPr>
        <p:spPr>
          <a:xfrm>
            <a:off x="9509760" y="2331720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BD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</a:t>
            </a:r>
            <a:endParaRPr lang="en-US" sz="1600" dirty="0"/>
          </a:p>
        </p:txBody>
      </p:sp>
      <p:sp>
        <p:nvSpPr>
          <p:cNvPr id="43" name="Text 20">
            <a:extLst>
              <a:ext uri="{FF2B5EF4-FFF2-40B4-BE49-F238E27FC236}">
                <a16:creationId xmlns:a16="http://schemas.microsoft.com/office/drawing/2014/main" id="{64495CF2-C940-CE71-9E93-B92096FBB7FC}"/>
              </a:ext>
            </a:extLst>
          </p:cNvPr>
          <p:cNvSpPr/>
          <p:nvPr/>
        </p:nvSpPr>
        <p:spPr>
          <a:xfrm>
            <a:off x="9509760" y="2880360"/>
            <a:ext cx="168249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B8B4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Ecrãs em Jetpack Compose que consomem o estado do ViewModel</a:t>
            </a:r>
            <a:endParaRPr lang="en-US" sz="1150" dirty="0"/>
          </a:p>
        </p:txBody>
      </p:sp>
      <p:sp>
        <p:nvSpPr>
          <p:cNvPr id="45" name="Text 21">
            <a:extLst>
              <a:ext uri="{FF2B5EF4-FFF2-40B4-BE49-F238E27FC236}">
                <a16:creationId xmlns:a16="http://schemas.microsoft.com/office/drawing/2014/main" id="{6CB74746-C115-61C2-F728-54A0B41A95EC}"/>
              </a:ext>
            </a:extLst>
          </p:cNvPr>
          <p:cNvSpPr/>
          <p:nvPr/>
        </p:nvSpPr>
        <p:spPr>
          <a:xfrm>
            <a:off x="640080" y="55321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camada isola uma responsabilidade — do acesso a dados até à interface — garantindo atualizações em tempo real entre cliente e mecânico.</a:t>
            </a:r>
            <a:endParaRPr lang="en-US" sz="1300" dirty="0"/>
          </a:p>
        </p:txBody>
      </p:sp>
      <p:pic>
        <p:nvPicPr>
          <p:cNvPr id="47" name="Image 0" descr="assets/logo.png">
            <a:extLst>
              <a:ext uri="{FF2B5EF4-FFF2-40B4-BE49-F238E27FC236}">
                <a16:creationId xmlns:a16="http://schemas.microsoft.com/office/drawing/2014/main" id="{6F0CBBC2-5AD6-0314-260B-8EC21AF655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6291072"/>
            <a:ext cx="457200" cy="371246"/>
          </a:xfrm>
          <a:prstGeom prst="rect">
            <a:avLst/>
          </a:prstGeom>
        </p:spPr>
      </p:pic>
      <p:sp>
        <p:nvSpPr>
          <p:cNvPr id="49" name="Text 22">
            <a:extLst>
              <a:ext uri="{FF2B5EF4-FFF2-40B4-BE49-F238E27FC236}">
                <a16:creationId xmlns:a16="http://schemas.microsoft.com/office/drawing/2014/main" id="{7C1C1019-F1BC-3EC2-7F2A-B93718D37698}"/>
              </a:ext>
            </a:extLst>
          </p:cNvPr>
          <p:cNvSpPr/>
          <p:nvPr/>
        </p:nvSpPr>
        <p:spPr>
          <a:xfrm>
            <a:off x="914400" y="63276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D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Meca </a:t>
            </a: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Móveis</a:t>
            </a:r>
            <a:endParaRPr lang="en-US" sz="1100" dirty="0"/>
          </a:p>
        </p:txBody>
      </p:sp>
      <p:sp>
        <p:nvSpPr>
          <p:cNvPr id="51" name="Text 23">
            <a:extLst>
              <a:ext uri="{FF2B5EF4-FFF2-40B4-BE49-F238E27FC236}">
                <a16:creationId xmlns:a16="http://schemas.microsoft.com/office/drawing/2014/main" id="{026ECBD0-D07D-811E-2A3C-A1384BAB119E}"/>
              </a:ext>
            </a:extLst>
          </p:cNvPr>
          <p:cNvSpPr/>
          <p:nvPr/>
        </p:nvSpPr>
        <p:spPr>
          <a:xfrm>
            <a:off x="7251192" y="63276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Leandro Dionísio · Leandro Pinto · Filipe Viegas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 0">
            <a:extLst>
              <a:ext uri="{FF2B5EF4-FFF2-40B4-BE49-F238E27FC236}">
                <a16:creationId xmlns:a16="http://schemas.microsoft.com/office/drawing/2014/main" id="{E14C6783-8567-BDA7-4958-BCCE5E182EEB}"/>
              </a:ext>
            </a:extLst>
          </p:cNvPr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BD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PERSISTÊNCIA</a:t>
            </a:r>
            <a:endParaRPr lang="en-US" sz="1300" dirty="0"/>
          </a:p>
        </p:txBody>
      </p:sp>
      <p:sp>
        <p:nvSpPr>
          <p:cNvPr id="51" name="Text 1">
            <a:extLst>
              <a:ext uri="{FF2B5EF4-FFF2-40B4-BE49-F238E27FC236}">
                <a16:creationId xmlns:a16="http://schemas.microsoft.com/office/drawing/2014/main" id="{71E8F426-3C5B-D087-1113-17D15859CD2A}"/>
              </a:ext>
            </a:extLst>
          </p:cNvPr>
          <p:cNvSpPr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Desenho da Base de Dados</a:t>
            </a:r>
            <a:endParaRPr lang="en-US" sz="4000" dirty="0"/>
          </a:p>
        </p:txBody>
      </p:sp>
      <p:sp>
        <p:nvSpPr>
          <p:cNvPr id="53" name="Shape 2">
            <a:extLst>
              <a:ext uri="{FF2B5EF4-FFF2-40B4-BE49-F238E27FC236}">
                <a16:creationId xmlns:a16="http://schemas.microsoft.com/office/drawing/2014/main" id="{08F627A2-7F1E-2465-AAC3-D1075908422E}"/>
              </a:ext>
            </a:extLst>
          </p:cNvPr>
          <p:cNvSpPr/>
          <p:nvPr/>
        </p:nvSpPr>
        <p:spPr>
          <a:xfrm>
            <a:off x="640080" y="1828800"/>
            <a:ext cx="5349240" cy="4114800"/>
          </a:xfrm>
          <a:prstGeom prst="roundRect">
            <a:avLst>
              <a:gd name="adj" fmla="val 2667"/>
            </a:avLst>
          </a:prstGeom>
          <a:solidFill>
            <a:srgbClr val="2F2D2A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55" name="Text 3">
            <a:extLst>
              <a:ext uri="{FF2B5EF4-FFF2-40B4-BE49-F238E27FC236}">
                <a16:creationId xmlns:a16="http://schemas.microsoft.com/office/drawing/2014/main" id="{EBBE3034-5467-C5E6-AB29-6C70EDFDD36A}"/>
              </a:ext>
            </a:extLst>
          </p:cNvPr>
          <p:cNvSpPr/>
          <p:nvPr/>
        </p:nvSpPr>
        <p:spPr>
          <a:xfrm>
            <a:off x="914400" y="210312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BD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Local com Room</a:t>
            </a:r>
            <a:endParaRPr lang="en-US" sz="1600" dirty="0"/>
          </a:p>
        </p:txBody>
      </p:sp>
      <p:sp>
        <p:nvSpPr>
          <p:cNvPr id="57" name="Text 4">
            <a:extLst>
              <a:ext uri="{FF2B5EF4-FFF2-40B4-BE49-F238E27FC236}">
                <a16:creationId xmlns:a16="http://schemas.microsoft.com/office/drawing/2014/main" id="{9E458C40-05C4-4E6B-CFFF-5CADE6A2D885}"/>
              </a:ext>
            </a:extLst>
          </p:cNvPr>
          <p:cNvSpPr/>
          <p:nvPr/>
        </p:nvSpPr>
        <p:spPr>
          <a:xfrm>
            <a:off x="914400" y="2606040"/>
            <a:ext cx="4800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B8B4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classe AppDatabase gere o esquema relacional (atualmente na versão 10), o histórico de versões e a instância única de acesso à base de dados, via padrão singleton com @Volatile.</a:t>
            </a:r>
            <a:endParaRPr lang="en-US" sz="1400" dirty="0"/>
          </a:p>
        </p:txBody>
      </p:sp>
      <p:sp>
        <p:nvSpPr>
          <p:cNvPr id="59" name="Shape 5">
            <a:extLst>
              <a:ext uri="{FF2B5EF4-FFF2-40B4-BE49-F238E27FC236}">
                <a16:creationId xmlns:a16="http://schemas.microsoft.com/office/drawing/2014/main" id="{A1FFFDF5-A09C-202B-8064-FC39CF34FA8B}"/>
              </a:ext>
            </a:extLst>
          </p:cNvPr>
          <p:cNvSpPr/>
          <p:nvPr/>
        </p:nvSpPr>
        <p:spPr>
          <a:xfrm>
            <a:off x="6172200" y="1828800"/>
            <a:ext cx="5349240" cy="4114800"/>
          </a:xfrm>
          <a:prstGeom prst="roundRect">
            <a:avLst>
              <a:gd name="adj" fmla="val 2667"/>
            </a:avLst>
          </a:prstGeom>
          <a:solidFill>
            <a:srgbClr val="2F2D2A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61" name="Text 6">
            <a:extLst>
              <a:ext uri="{FF2B5EF4-FFF2-40B4-BE49-F238E27FC236}">
                <a16:creationId xmlns:a16="http://schemas.microsoft.com/office/drawing/2014/main" id="{47F02022-484D-D64E-53E8-E67D9F95E184}"/>
              </a:ext>
            </a:extLst>
          </p:cNvPr>
          <p:cNvSpPr/>
          <p:nvPr/>
        </p:nvSpPr>
        <p:spPr>
          <a:xfrm>
            <a:off x="6446520" y="210312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BD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Estratégias de Persistência</a:t>
            </a:r>
            <a:endParaRPr lang="en-US" sz="1600" dirty="0"/>
          </a:p>
        </p:txBody>
      </p:sp>
      <p:sp>
        <p:nvSpPr>
          <p:cNvPr id="63" name="Shape 7">
            <a:extLst>
              <a:ext uri="{FF2B5EF4-FFF2-40B4-BE49-F238E27FC236}">
                <a16:creationId xmlns:a16="http://schemas.microsoft.com/office/drawing/2014/main" id="{C7A98B41-2A25-5481-86BA-268FF363CF86}"/>
              </a:ext>
            </a:extLst>
          </p:cNvPr>
          <p:cNvSpPr/>
          <p:nvPr/>
        </p:nvSpPr>
        <p:spPr>
          <a:xfrm>
            <a:off x="6446520" y="2679192"/>
            <a:ext cx="118872" cy="118872"/>
          </a:xfrm>
          <a:prstGeom prst="ellipse">
            <a:avLst/>
          </a:prstGeom>
          <a:solidFill>
            <a:srgbClr val="FFBD49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65" name="Text 8">
            <a:extLst>
              <a:ext uri="{FF2B5EF4-FFF2-40B4-BE49-F238E27FC236}">
                <a16:creationId xmlns:a16="http://schemas.microsoft.com/office/drawing/2014/main" id="{93084A62-42C5-B00A-7CA3-ADDE53CC367E}"/>
              </a:ext>
            </a:extLst>
          </p:cNvPr>
          <p:cNvSpPr/>
          <p:nvPr/>
        </p:nvSpPr>
        <p:spPr>
          <a:xfrm>
            <a:off x="6720840" y="2606040"/>
            <a:ext cx="4526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BD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onConflict = IGNORE — </a:t>
            </a:r>
            <a:r>
              <a:rPr lang="en-US" sz="1250" dirty="0">
                <a:solidFill>
                  <a:srgbClr val="B8B4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impede duplicação de registos (ex: e-mail já registado)</a:t>
            </a:r>
            <a:endParaRPr lang="en-US" sz="1250" dirty="0"/>
          </a:p>
        </p:txBody>
      </p:sp>
      <p:sp>
        <p:nvSpPr>
          <p:cNvPr id="67" name="Shape 9">
            <a:extLst>
              <a:ext uri="{FF2B5EF4-FFF2-40B4-BE49-F238E27FC236}">
                <a16:creationId xmlns:a16="http://schemas.microsoft.com/office/drawing/2014/main" id="{C7B5E130-BF34-D21C-32AE-EFBEC5BA2C6B}"/>
              </a:ext>
            </a:extLst>
          </p:cNvPr>
          <p:cNvSpPr/>
          <p:nvPr/>
        </p:nvSpPr>
        <p:spPr>
          <a:xfrm>
            <a:off x="6446520" y="3392424"/>
            <a:ext cx="118872" cy="118872"/>
          </a:xfrm>
          <a:prstGeom prst="ellipse">
            <a:avLst/>
          </a:prstGeom>
          <a:solidFill>
            <a:srgbClr val="FFBD49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69" name="Text 10">
            <a:extLst>
              <a:ext uri="{FF2B5EF4-FFF2-40B4-BE49-F238E27FC236}">
                <a16:creationId xmlns:a16="http://schemas.microsoft.com/office/drawing/2014/main" id="{72F8BA8C-7042-0E82-35DD-0E044920F62E}"/>
              </a:ext>
            </a:extLst>
          </p:cNvPr>
          <p:cNvSpPr/>
          <p:nvPr/>
        </p:nvSpPr>
        <p:spPr>
          <a:xfrm>
            <a:off x="6720840" y="3319272"/>
            <a:ext cx="4526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BD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onConflict = REPLACE — </a:t>
            </a:r>
            <a:r>
              <a:rPr lang="en-US" sz="1250" dirty="0">
                <a:solidFill>
                  <a:srgbClr val="B8B4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unifica criação e edição de orçamentos e </a:t>
            </a:r>
            <a:r>
              <a:rPr lang="en-US" sz="1250" dirty="0" err="1">
                <a:solidFill>
                  <a:srgbClr val="B8B4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reparações</a:t>
            </a:r>
            <a:endParaRPr lang="en-US" sz="1250" dirty="0"/>
          </a:p>
        </p:txBody>
      </p:sp>
      <p:sp>
        <p:nvSpPr>
          <p:cNvPr id="71" name="Shape 11">
            <a:extLst>
              <a:ext uri="{FF2B5EF4-FFF2-40B4-BE49-F238E27FC236}">
                <a16:creationId xmlns:a16="http://schemas.microsoft.com/office/drawing/2014/main" id="{709DF43F-BD88-6168-7CF3-0096738026B0}"/>
              </a:ext>
            </a:extLst>
          </p:cNvPr>
          <p:cNvSpPr/>
          <p:nvPr/>
        </p:nvSpPr>
        <p:spPr>
          <a:xfrm>
            <a:off x="6446520" y="4105656"/>
            <a:ext cx="118872" cy="118872"/>
          </a:xfrm>
          <a:prstGeom prst="ellipse">
            <a:avLst/>
          </a:prstGeom>
          <a:solidFill>
            <a:srgbClr val="FFBD49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73" name="Text 12">
            <a:extLst>
              <a:ext uri="{FF2B5EF4-FFF2-40B4-BE49-F238E27FC236}">
                <a16:creationId xmlns:a16="http://schemas.microsoft.com/office/drawing/2014/main" id="{2E18F473-ABCD-733B-40A0-709F3888B358}"/>
              </a:ext>
            </a:extLst>
          </p:cNvPr>
          <p:cNvSpPr/>
          <p:nvPr/>
        </p:nvSpPr>
        <p:spPr>
          <a:xfrm>
            <a:off x="6720840" y="4032504"/>
            <a:ext cx="4526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BD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 reativo — </a:t>
            </a:r>
            <a:r>
              <a:rPr lang="en-US" sz="1250" dirty="0">
                <a:solidFill>
                  <a:srgbClr val="B8B4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atualiza a interface em tempo real sem recarregar o ecrã</a:t>
            </a:r>
            <a:endParaRPr lang="en-US" sz="1250" dirty="0"/>
          </a:p>
        </p:txBody>
      </p:sp>
      <p:sp>
        <p:nvSpPr>
          <p:cNvPr id="75" name="Shape 13">
            <a:extLst>
              <a:ext uri="{FF2B5EF4-FFF2-40B4-BE49-F238E27FC236}">
                <a16:creationId xmlns:a16="http://schemas.microsoft.com/office/drawing/2014/main" id="{7B93A514-6973-3BE7-8349-4242175DC7AE}"/>
              </a:ext>
            </a:extLst>
          </p:cNvPr>
          <p:cNvSpPr/>
          <p:nvPr/>
        </p:nvSpPr>
        <p:spPr>
          <a:xfrm>
            <a:off x="6446520" y="4818888"/>
            <a:ext cx="118872" cy="118872"/>
          </a:xfrm>
          <a:prstGeom prst="ellipse">
            <a:avLst/>
          </a:prstGeom>
          <a:solidFill>
            <a:srgbClr val="FFBD49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77" name="Text 14">
            <a:extLst>
              <a:ext uri="{FF2B5EF4-FFF2-40B4-BE49-F238E27FC236}">
                <a16:creationId xmlns:a16="http://schemas.microsoft.com/office/drawing/2014/main" id="{3D95ECD6-1BC0-4B80-141E-5AC7AD6DD0DC}"/>
              </a:ext>
            </a:extLst>
          </p:cNvPr>
          <p:cNvSpPr/>
          <p:nvPr/>
        </p:nvSpPr>
        <p:spPr>
          <a:xfrm>
            <a:off x="6720840" y="4745736"/>
            <a:ext cx="4526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BD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 1 — </a:t>
            </a:r>
            <a:r>
              <a:rPr lang="en-US" sz="1250" dirty="0">
                <a:solidFill>
                  <a:srgbClr val="B8B4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acelera consultas de login, parando na 1ª correspondência</a:t>
            </a:r>
            <a:endParaRPr lang="en-US" sz="1250" dirty="0"/>
          </a:p>
        </p:txBody>
      </p:sp>
      <p:sp>
        <p:nvSpPr>
          <p:cNvPr id="81" name="Text 15">
            <a:extLst>
              <a:ext uri="{FF2B5EF4-FFF2-40B4-BE49-F238E27FC236}">
                <a16:creationId xmlns:a16="http://schemas.microsoft.com/office/drawing/2014/main" id="{2277DFAE-CC9D-E29A-DE2A-668D20DE4547}"/>
              </a:ext>
            </a:extLst>
          </p:cNvPr>
          <p:cNvSpPr/>
          <p:nvPr/>
        </p:nvSpPr>
        <p:spPr>
          <a:xfrm>
            <a:off x="914400" y="63276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D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Meca </a:t>
            </a: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Móveis</a:t>
            </a:r>
            <a:endParaRPr lang="en-US" sz="1100" dirty="0"/>
          </a:p>
        </p:txBody>
      </p:sp>
      <p:sp>
        <p:nvSpPr>
          <p:cNvPr id="83" name="Text 16">
            <a:extLst>
              <a:ext uri="{FF2B5EF4-FFF2-40B4-BE49-F238E27FC236}">
                <a16:creationId xmlns:a16="http://schemas.microsoft.com/office/drawing/2014/main" id="{5093FF6D-6A05-0494-3C9A-6CB4BB812024}"/>
              </a:ext>
            </a:extLst>
          </p:cNvPr>
          <p:cNvSpPr/>
          <p:nvPr/>
        </p:nvSpPr>
        <p:spPr>
          <a:xfrm>
            <a:off x="7251192" y="63276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Leandro Dionísio · Leandro Pinto · Filipe Viegas</a:t>
            </a:r>
            <a:endParaRPr lang="en-US" sz="1000" dirty="0"/>
          </a:p>
        </p:txBody>
      </p:sp>
      <p:pic>
        <p:nvPicPr>
          <p:cNvPr id="85" name="Image 0" descr="assets/logo.png">
            <a:extLst>
              <a:ext uri="{FF2B5EF4-FFF2-40B4-BE49-F238E27FC236}">
                <a16:creationId xmlns:a16="http://schemas.microsoft.com/office/drawing/2014/main" id="{C513CE5B-EE59-7037-E8BF-493CDA6E71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8065" y="6011516"/>
            <a:ext cx="1188147" cy="96477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8C8E6A-796C-0F81-13E5-A3ECE1F16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 0">
            <a:extLst>
              <a:ext uri="{FF2B5EF4-FFF2-40B4-BE49-F238E27FC236}">
                <a16:creationId xmlns:a16="http://schemas.microsoft.com/office/drawing/2014/main" id="{67BABE0D-FFF8-6E6F-AAE6-B7A8FCE30489}"/>
              </a:ext>
            </a:extLst>
          </p:cNvPr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BD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PERSISTÊNCIA</a:t>
            </a:r>
            <a:endParaRPr lang="en-US" sz="1300" dirty="0"/>
          </a:p>
        </p:txBody>
      </p:sp>
      <p:sp>
        <p:nvSpPr>
          <p:cNvPr id="51" name="Text 1">
            <a:extLst>
              <a:ext uri="{FF2B5EF4-FFF2-40B4-BE49-F238E27FC236}">
                <a16:creationId xmlns:a16="http://schemas.microsoft.com/office/drawing/2014/main" id="{930FC628-AB1F-A41E-8D02-F982CD10A2BD}"/>
              </a:ext>
            </a:extLst>
          </p:cNvPr>
          <p:cNvSpPr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Diagrama E/R e Modelo </a:t>
            </a:r>
            <a:r>
              <a:rPr lang="en-US" sz="40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Físico</a:t>
            </a:r>
            <a:endParaRPr lang="en-US" sz="4000" dirty="0"/>
          </a:p>
        </p:txBody>
      </p:sp>
      <p:sp>
        <p:nvSpPr>
          <p:cNvPr id="81" name="Text 15">
            <a:extLst>
              <a:ext uri="{FF2B5EF4-FFF2-40B4-BE49-F238E27FC236}">
                <a16:creationId xmlns:a16="http://schemas.microsoft.com/office/drawing/2014/main" id="{358B4ED2-9523-7B7B-4779-88B3D05FB4F5}"/>
              </a:ext>
            </a:extLst>
          </p:cNvPr>
          <p:cNvSpPr/>
          <p:nvPr/>
        </p:nvSpPr>
        <p:spPr>
          <a:xfrm>
            <a:off x="914400" y="63276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D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Meca </a:t>
            </a: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Móveis</a:t>
            </a:r>
            <a:endParaRPr lang="en-US" sz="1100" dirty="0"/>
          </a:p>
        </p:txBody>
      </p:sp>
      <p:sp>
        <p:nvSpPr>
          <p:cNvPr id="83" name="Text 16">
            <a:extLst>
              <a:ext uri="{FF2B5EF4-FFF2-40B4-BE49-F238E27FC236}">
                <a16:creationId xmlns:a16="http://schemas.microsoft.com/office/drawing/2014/main" id="{D00AC4A7-3E88-3F3E-A70B-2B55C740E564}"/>
              </a:ext>
            </a:extLst>
          </p:cNvPr>
          <p:cNvSpPr/>
          <p:nvPr/>
        </p:nvSpPr>
        <p:spPr>
          <a:xfrm>
            <a:off x="7251192" y="63276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Leandro Dionísio · Leandro Pinto · Filipe Viegas</a:t>
            </a:r>
            <a:endParaRPr lang="en-US" sz="1000" dirty="0"/>
          </a:p>
        </p:txBody>
      </p:sp>
      <p:pic>
        <p:nvPicPr>
          <p:cNvPr id="85" name="Image 0" descr="assets/logo.png">
            <a:extLst>
              <a:ext uri="{FF2B5EF4-FFF2-40B4-BE49-F238E27FC236}">
                <a16:creationId xmlns:a16="http://schemas.microsoft.com/office/drawing/2014/main" id="{DFE05A27-1033-154B-1F98-45BBAF27DF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8065" y="6011516"/>
            <a:ext cx="1188147" cy="964774"/>
          </a:xfrm>
          <a:prstGeom prst="rect">
            <a:avLst/>
          </a:prstGeom>
        </p:spPr>
      </p:pic>
      <p:sp>
        <p:nvSpPr>
          <p:cNvPr id="3" name="Shape 2">
            <a:extLst>
              <a:ext uri="{FF2B5EF4-FFF2-40B4-BE49-F238E27FC236}">
                <a16:creationId xmlns:a16="http://schemas.microsoft.com/office/drawing/2014/main" id="{F94DF62A-AA29-435E-6B5A-835E85857DFC}"/>
              </a:ext>
            </a:extLst>
          </p:cNvPr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2667"/>
            </a:avLst>
          </a:prstGeom>
          <a:solidFill>
            <a:srgbClr val="2F2D2A"/>
          </a:solidFill>
          <a:ln/>
        </p:spPr>
        <p:txBody>
          <a:bodyPr/>
          <a:lstStyle/>
          <a:p>
            <a:endParaRPr lang="pt-PT"/>
          </a:p>
        </p:txBody>
      </p:sp>
      <p:pic>
        <p:nvPicPr>
          <p:cNvPr id="4" name="image19.png">
            <a:extLst>
              <a:ext uri="{FF2B5EF4-FFF2-40B4-BE49-F238E27FC236}">
                <a16:creationId xmlns:a16="http://schemas.microsoft.com/office/drawing/2014/main" id="{7607F1AE-23CE-6777-5AD2-84D64A0FA175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1032169" y="2069764"/>
            <a:ext cx="4738370" cy="3613150"/>
          </a:xfrm>
          <a:prstGeom prst="rect">
            <a:avLst/>
          </a:prstGeom>
          <a:ln/>
        </p:spPr>
      </p:pic>
      <p:pic>
        <p:nvPicPr>
          <p:cNvPr id="5" name="image30.jpg">
            <a:extLst>
              <a:ext uri="{FF2B5EF4-FFF2-40B4-BE49-F238E27FC236}">
                <a16:creationId xmlns:a16="http://schemas.microsoft.com/office/drawing/2014/main" id="{54C2D7A4-69EE-6E4B-00D1-B70632B20FF4}"/>
              </a:ext>
            </a:extLst>
          </p:cNvPr>
          <p:cNvPicPr/>
          <p:nvPr/>
        </p:nvPicPr>
        <p:blipFill>
          <a:blip r:embed="rId5"/>
          <a:srcRect b="6442"/>
          <a:stretch>
            <a:fillRect/>
          </a:stretch>
        </p:blipFill>
        <p:spPr>
          <a:xfrm>
            <a:off x="6303693" y="2079625"/>
            <a:ext cx="4856138" cy="3613149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31011015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0">
            <a:extLst>
              <a:ext uri="{FF2B5EF4-FFF2-40B4-BE49-F238E27FC236}">
                <a16:creationId xmlns:a16="http://schemas.microsoft.com/office/drawing/2014/main" id="{26698F70-3F8B-DDD3-AA96-A792C41E7B2F}"/>
              </a:ext>
            </a:extLst>
          </p:cNvPr>
          <p:cNvSpPr/>
          <p:nvPr/>
        </p:nvSpPr>
        <p:spPr>
          <a:xfrm>
            <a:off x="640080" y="2651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BD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CAPÍTULO 05</a:t>
            </a:r>
            <a:endParaRPr lang="en-US" sz="1300" dirty="0"/>
          </a:p>
        </p:txBody>
      </p:sp>
      <p:sp>
        <p:nvSpPr>
          <p:cNvPr id="33" name="Text 1">
            <a:extLst>
              <a:ext uri="{FF2B5EF4-FFF2-40B4-BE49-F238E27FC236}">
                <a16:creationId xmlns:a16="http://schemas.microsoft.com/office/drawing/2014/main" id="{B3B9A540-88F6-4D42-796F-80875420B3F7}"/>
              </a:ext>
            </a:extLst>
          </p:cNvPr>
          <p:cNvSpPr/>
          <p:nvPr/>
        </p:nvSpPr>
        <p:spPr>
          <a:xfrm>
            <a:off x="594360" y="3017520"/>
            <a:ext cx="8229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Testes &amp;</a:t>
            </a:r>
            <a:endParaRPr lang="en-US" sz="4600" dirty="0"/>
          </a:p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</a:t>
            </a:r>
            <a:endParaRPr lang="en-US" sz="4600" dirty="0"/>
          </a:p>
        </p:txBody>
      </p:sp>
      <p:sp>
        <p:nvSpPr>
          <p:cNvPr id="35" name="Text 2">
            <a:extLst>
              <a:ext uri="{FF2B5EF4-FFF2-40B4-BE49-F238E27FC236}">
                <a16:creationId xmlns:a16="http://schemas.microsoft.com/office/drawing/2014/main" id="{98179371-C1BD-2622-7172-FC296E40E8B3}"/>
              </a:ext>
            </a:extLst>
          </p:cNvPr>
          <p:cNvSpPr/>
          <p:nvPr/>
        </p:nvSpPr>
        <p:spPr>
          <a:xfrm>
            <a:off x="9811512" y="502920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0" dirty="0"/>
          </a:p>
        </p:txBody>
      </p:sp>
      <p:sp>
        <p:nvSpPr>
          <p:cNvPr id="39" name="Text 3">
            <a:extLst>
              <a:ext uri="{FF2B5EF4-FFF2-40B4-BE49-F238E27FC236}">
                <a16:creationId xmlns:a16="http://schemas.microsoft.com/office/drawing/2014/main" id="{1061E434-E0C9-BF50-059D-9874D82F7AC9}"/>
              </a:ext>
            </a:extLst>
          </p:cNvPr>
          <p:cNvSpPr/>
          <p:nvPr/>
        </p:nvSpPr>
        <p:spPr>
          <a:xfrm>
            <a:off x="914400" y="63276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D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Meca </a:t>
            </a: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Móveis</a:t>
            </a:r>
            <a:endParaRPr lang="en-US" sz="1100" dirty="0"/>
          </a:p>
        </p:txBody>
      </p:sp>
      <p:sp>
        <p:nvSpPr>
          <p:cNvPr id="41" name="Text 4">
            <a:extLst>
              <a:ext uri="{FF2B5EF4-FFF2-40B4-BE49-F238E27FC236}">
                <a16:creationId xmlns:a16="http://schemas.microsoft.com/office/drawing/2014/main" id="{E5342B65-A3CA-C3C7-E723-A50C89F14B67}"/>
              </a:ext>
            </a:extLst>
          </p:cNvPr>
          <p:cNvSpPr/>
          <p:nvPr/>
        </p:nvSpPr>
        <p:spPr>
          <a:xfrm>
            <a:off x="7251192" y="63276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Leandro Dionísio · Leandro Pinto · Filipe Viegas</a:t>
            </a:r>
            <a:endParaRPr lang="en-US" sz="1000" dirty="0"/>
          </a:p>
        </p:txBody>
      </p:sp>
      <p:pic>
        <p:nvPicPr>
          <p:cNvPr id="43" name="Image 0" descr="assets/logo.png">
            <a:extLst>
              <a:ext uri="{FF2B5EF4-FFF2-40B4-BE49-F238E27FC236}">
                <a16:creationId xmlns:a16="http://schemas.microsoft.com/office/drawing/2014/main" id="{7543D0F4-3024-BCDF-B35F-6C3CE53853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8065" y="6011516"/>
            <a:ext cx="1188147" cy="96477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ext 0">
            <a:extLst>
              <a:ext uri="{FF2B5EF4-FFF2-40B4-BE49-F238E27FC236}">
                <a16:creationId xmlns:a16="http://schemas.microsoft.com/office/drawing/2014/main" id="{6E6A9087-F49C-EBCA-35F6-CFAD51B4B469}"/>
              </a:ext>
            </a:extLst>
          </p:cNvPr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BD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VALIDAÇÃO</a:t>
            </a:r>
            <a:endParaRPr lang="en-US" sz="1300" dirty="0"/>
          </a:p>
        </p:txBody>
      </p:sp>
      <p:sp>
        <p:nvSpPr>
          <p:cNvPr id="111" name="Text 1">
            <a:extLst>
              <a:ext uri="{FF2B5EF4-FFF2-40B4-BE49-F238E27FC236}">
                <a16:creationId xmlns:a16="http://schemas.microsoft.com/office/drawing/2014/main" id="{1A4665C6-A65C-C92F-08C7-0F0EB890286F}"/>
              </a:ext>
            </a:extLst>
          </p:cNvPr>
          <p:cNvSpPr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Testes de Usabilidade</a:t>
            </a:r>
            <a:endParaRPr lang="en-US" sz="4000" dirty="0"/>
          </a:p>
        </p:txBody>
      </p:sp>
      <p:sp>
        <p:nvSpPr>
          <p:cNvPr id="113" name="Shape 2">
            <a:extLst>
              <a:ext uri="{FF2B5EF4-FFF2-40B4-BE49-F238E27FC236}">
                <a16:creationId xmlns:a16="http://schemas.microsoft.com/office/drawing/2014/main" id="{01169D3D-D4C0-CA2C-1C8C-4384C80E4AE0}"/>
              </a:ext>
            </a:extLst>
          </p:cNvPr>
          <p:cNvSpPr/>
          <p:nvPr/>
        </p:nvSpPr>
        <p:spPr>
          <a:xfrm>
            <a:off x="640080" y="1828800"/>
            <a:ext cx="10881360" cy="2011680"/>
          </a:xfrm>
          <a:prstGeom prst="roundRect">
            <a:avLst>
              <a:gd name="adj" fmla="val 5455"/>
            </a:avLst>
          </a:prstGeom>
          <a:solidFill>
            <a:srgbClr val="2F2D2A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15" name="Text 3">
            <a:extLst>
              <a:ext uri="{FF2B5EF4-FFF2-40B4-BE49-F238E27FC236}">
                <a16:creationId xmlns:a16="http://schemas.microsoft.com/office/drawing/2014/main" id="{517E0BA4-E92A-3E06-2DC2-B38A035F591F}"/>
              </a:ext>
            </a:extLst>
          </p:cNvPr>
          <p:cNvSpPr/>
          <p:nvPr/>
        </p:nvSpPr>
        <p:spPr>
          <a:xfrm>
            <a:off x="914400" y="2011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BD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 Gerais</a:t>
            </a:r>
            <a:endParaRPr lang="en-US" sz="1400" dirty="0"/>
          </a:p>
        </p:txBody>
      </p:sp>
      <p:sp>
        <p:nvSpPr>
          <p:cNvPr id="117" name="Text 4">
            <a:extLst>
              <a:ext uri="{FF2B5EF4-FFF2-40B4-BE49-F238E27FC236}">
                <a16:creationId xmlns:a16="http://schemas.microsoft.com/office/drawing/2014/main" id="{33DEC0D6-218E-5C3B-1915-B4797FA86296}"/>
              </a:ext>
            </a:extLst>
          </p:cNvPr>
          <p:cNvSpPr/>
          <p:nvPr/>
        </p:nvSpPr>
        <p:spPr>
          <a:xfrm>
            <a:off x="914400" y="24231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23s – 1m52s</a:t>
            </a:r>
            <a:endParaRPr lang="en-US" sz="2600" dirty="0"/>
          </a:p>
        </p:txBody>
      </p:sp>
      <p:sp>
        <p:nvSpPr>
          <p:cNvPr id="119" name="Text 5">
            <a:extLst>
              <a:ext uri="{FF2B5EF4-FFF2-40B4-BE49-F238E27FC236}">
                <a16:creationId xmlns:a16="http://schemas.microsoft.com/office/drawing/2014/main" id="{B8C7D7FA-833D-D26B-7849-55F60D5F240B}"/>
              </a:ext>
            </a:extLst>
          </p:cNvPr>
          <p:cNvSpPr/>
          <p:nvPr/>
        </p:nvSpPr>
        <p:spPr>
          <a:xfrm>
            <a:off x="914400" y="30175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B4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 médio por tarefa</a:t>
            </a:r>
            <a:endParaRPr lang="en-US" sz="1200" dirty="0"/>
          </a:p>
        </p:txBody>
      </p:sp>
      <p:sp>
        <p:nvSpPr>
          <p:cNvPr id="121" name="Text 6">
            <a:extLst>
              <a:ext uri="{FF2B5EF4-FFF2-40B4-BE49-F238E27FC236}">
                <a16:creationId xmlns:a16="http://schemas.microsoft.com/office/drawing/2014/main" id="{6570E6B2-8454-9CF9-3B9E-19361A19EE3D}"/>
              </a:ext>
            </a:extLst>
          </p:cNvPr>
          <p:cNvSpPr/>
          <p:nvPr/>
        </p:nvSpPr>
        <p:spPr>
          <a:xfrm>
            <a:off x="4480560" y="24231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– 15</a:t>
            </a:r>
            <a:endParaRPr lang="en-US" sz="2600" dirty="0"/>
          </a:p>
        </p:txBody>
      </p:sp>
      <p:sp>
        <p:nvSpPr>
          <p:cNvPr id="123" name="Text 7">
            <a:extLst>
              <a:ext uri="{FF2B5EF4-FFF2-40B4-BE49-F238E27FC236}">
                <a16:creationId xmlns:a16="http://schemas.microsoft.com/office/drawing/2014/main" id="{9BE0656D-45C0-6166-D3CB-32CE4AB00079}"/>
              </a:ext>
            </a:extLst>
          </p:cNvPr>
          <p:cNvSpPr/>
          <p:nvPr/>
        </p:nvSpPr>
        <p:spPr>
          <a:xfrm>
            <a:off x="4480560" y="30175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B4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Cliques até concluir</a:t>
            </a:r>
            <a:endParaRPr lang="en-US" sz="1200" dirty="0"/>
          </a:p>
        </p:txBody>
      </p:sp>
      <p:sp>
        <p:nvSpPr>
          <p:cNvPr id="125" name="Text 8">
            <a:extLst>
              <a:ext uri="{FF2B5EF4-FFF2-40B4-BE49-F238E27FC236}">
                <a16:creationId xmlns:a16="http://schemas.microsoft.com/office/drawing/2014/main" id="{8CAF4A3D-3C24-6160-5F39-D37CB0E81004}"/>
              </a:ext>
            </a:extLst>
          </p:cNvPr>
          <p:cNvSpPr/>
          <p:nvPr/>
        </p:nvSpPr>
        <p:spPr>
          <a:xfrm>
            <a:off x="8046720" y="24231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600" dirty="0"/>
          </a:p>
        </p:txBody>
      </p:sp>
      <p:sp>
        <p:nvSpPr>
          <p:cNvPr id="127" name="Text 9">
            <a:extLst>
              <a:ext uri="{FF2B5EF4-FFF2-40B4-BE49-F238E27FC236}">
                <a16:creationId xmlns:a16="http://schemas.microsoft.com/office/drawing/2014/main" id="{6F54732B-2DBF-C4D1-0CE1-E2C72E0540C7}"/>
              </a:ext>
            </a:extLst>
          </p:cNvPr>
          <p:cNvSpPr/>
          <p:nvPr/>
        </p:nvSpPr>
        <p:spPr>
          <a:xfrm>
            <a:off x="8046720" y="30175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B4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Utilizadores testados</a:t>
            </a:r>
            <a:endParaRPr lang="en-US" sz="1200" dirty="0"/>
          </a:p>
        </p:txBody>
      </p:sp>
      <p:sp>
        <p:nvSpPr>
          <p:cNvPr id="129" name="Shape 10">
            <a:extLst>
              <a:ext uri="{FF2B5EF4-FFF2-40B4-BE49-F238E27FC236}">
                <a16:creationId xmlns:a16="http://schemas.microsoft.com/office/drawing/2014/main" id="{EFA17ED2-6E22-72B3-BEF7-4542CACBC69D}"/>
              </a:ext>
            </a:extLst>
          </p:cNvPr>
          <p:cNvSpPr/>
          <p:nvPr/>
        </p:nvSpPr>
        <p:spPr>
          <a:xfrm>
            <a:off x="640080" y="4023360"/>
            <a:ext cx="5349240" cy="1920240"/>
          </a:xfrm>
          <a:prstGeom prst="roundRect">
            <a:avLst>
              <a:gd name="adj" fmla="val 5714"/>
            </a:avLst>
          </a:prstGeom>
          <a:solidFill>
            <a:srgbClr val="2F2D2A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31" name="Text 11">
            <a:extLst>
              <a:ext uri="{FF2B5EF4-FFF2-40B4-BE49-F238E27FC236}">
                <a16:creationId xmlns:a16="http://schemas.microsoft.com/office/drawing/2014/main" id="{E65CE911-19C4-3054-9AA7-9F5601B4C26E}"/>
              </a:ext>
            </a:extLst>
          </p:cNvPr>
          <p:cNvSpPr/>
          <p:nvPr/>
        </p:nvSpPr>
        <p:spPr>
          <a:xfrm>
            <a:off x="914400" y="420624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BD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Pontos Fortes</a:t>
            </a:r>
            <a:endParaRPr lang="en-US" sz="1400" dirty="0"/>
          </a:p>
        </p:txBody>
      </p:sp>
      <p:sp>
        <p:nvSpPr>
          <p:cNvPr id="133" name="Shape 12">
            <a:extLst>
              <a:ext uri="{FF2B5EF4-FFF2-40B4-BE49-F238E27FC236}">
                <a16:creationId xmlns:a16="http://schemas.microsoft.com/office/drawing/2014/main" id="{7D56BC09-80A8-7F78-DC76-06430E87C2BC}"/>
              </a:ext>
            </a:extLst>
          </p:cNvPr>
          <p:cNvSpPr/>
          <p:nvPr/>
        </p:nvSpPr>
        <p:spPr>
          <a:xfrm>
            <a:off x="914400" y="4645152"/>
            <a:ext cx="118872" cy="118872"/>
          </a:xfrm>
          <a:prstGeom prst="ellipse">
            <a:avLst/>
          </a:prstGeom>
          <a:solidFill>
            <a:srgbClr val="FFBD49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35" name="Text 13">
            <a:extLst>
              <a:ext uri="{FF2B5EF4-FFF2-40B4-BE49-F238E27FC236}">
                <a16:creationId xmlns:a16="http://schemas.microsoft.com/office/drawing/2014/main" id="{1D12F794-5E61-837A-7978-004DD4DC2DD0}"/>
              </a:ext>
            </a:extLst>
          </p:cNvPr>
          <p:cNvSpPr/>
          <p:nvPr/>
        </p:nvSpPr>
        <p:spPr>
          <a:xfrm>
            <a:off x="1188720" y="457200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Tarefas concluídas com sucesso por todos os utilizadores</a:t>
            </a:r>
            <a:endParaRPr lang="en-US" sz="1250" dirty="0"/>
          </a:p>
        </p:txBody>
      </p:sp>
      <p:sp>
        <p:nvSpPr>
          <p:cNvPr id="137" name="Shape 14">
            <a:extLst>
              <a:ext uri="{FF2B5EF4-FFF2-40B4-BE49-F238E27FC236}">
                <a16:creationId xmlns:a16="http://schemas.microsoft.com/office/drawing/2014/main" id="{6793C0D2-92B5-C819-4B38-68E650961FDF}"/>
              </a:ext>
            </a:extLst>
          </p:cNvPr>
          <p:cNvSpPr/>
          <p:nvPr/>
        </p:nvSpPr>
        <p:spPr>
          <a:xfrm>
            <a:off x="914400" y="5193792"/>
            <a:ext cx="118872" cy="118872"/>
          </a:xfrm>
          <a:prstGeom prst="ellipse">
            <a:avLst/>
          </a:prstGeom>
          <a:solidFill>
            <a:srgbClr val="FFBD49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39" name="Text 15">
            <a:extLst>
              <a:ext uri="{FF2B5EF4-FFF2-40B4-BE49-F238E27FC236}">
                <a16:creationId xmlns:a16="http://schemas.microsoft.com/office/drawing/2014/main" id="{D56445F4-24F2-475B-96CA-90DD4A992D45}"/>
              </a:ext>
            </a:extLst>
          </p:cNvPr>
          <p:cNvSpPr/>
          <p:nvPr/>
        </p:nvSpPr>
        <p:spPr>
          <a:xfrm>
            <a:off x="1188720" y="512064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Elogios repetidos ao aspeto estético da </a:t>
            </a:r>
            <a:r>
              <a:rPr lang="en-US" sz="125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aplicação</a:t>
            </a:r>
            <a:endParaRPr lang="en-US" sz="1250" dirty="0"/>
          </a:p>
        </p:txBody>
      </p:sp>
      <p:sp>
        <p:nvSpPr>
          <p:cNvPr id="141" name="Shape 16">
            <a:extLst>
              <a:ext uri="{FF2B5EF4-FFF2-40B4-BE49-F238E27FC236}">
                <a16:creationId xmlns:a16="http://schemas.microsoft.com/office/drawing/2014/main" id="{F7C11BC3-CAFC-B89A-F798-4936E10B2C91}"/>
              </a:ext>
            </a:extLst>
          </p:cNvPr>
          <p:cNvSpPr/>
          <p:nvPr/>
        </p:nvSpPr>
        <p:spPr>
          <a:xfrm>
            <a:off x="6172200" y="4023360"/>
            <a:ext cx="5349240" cy="1920240"/>
          </a:xfrm>
          <a:prstGeom prst="roundRect">
            <a:avLst>
              <a:gd name="adj" fmla="val 5714"/>
            </a:avLst>
          </a:prstGeom>
          <a:solidFill>
            <a:srgbClr val="2F2D2A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43" name="Text 17">
            <a:extLst>
              <a:ext uri="{FF2B5EF4-FFF2-40B4-BE49-F238E27FC236}">
                <a16:creationId xmlns:a16="http://schemas.microsoft.com/office/drawing/2014/main" id="{29E53AE6-7E89-FAB2-7E40-62A87395DB8B}"/>
              </a:ext>
            </a:extLst>
          </p:cNvPr>
          <p:cNvSpPr/>
          <p:nvPr/>
        </p:nvSpPr>
        <p:spPr>
          <a:xfrm>
            <a:off x="6446520" y="420624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BD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a Aplicar</a:t>
            </a:r>
            <a:endParaRPr lang="en-US" sz="1400" dirty="0"/>
          </a:p>
        </p:txBody>
      </p:sp>
      <p:sp>
        <p:nvSpPr>
          <p:cNvPr id="145" name="Shape 18">
            <a:extLst>
              <a:ext uri="{FF2B5EF4-FFF2-40B4-BE49-F238E27FC236}">
                <a16:creationId xmlns:a16="http://schemas.microsoft.com/office/drawing/2014/main" id="{458B2B57-605D-C208-8175-9B0100D27C3B}"/>
              </a:ext>
            </a:extLst>
          </p:cNvPr>
          <p:cNvSpPr/>
          <p:nvPr/>
        </p:nvSpPr>
        <p:spPr>
          <a:xfrm>
            <a:off x="6446520" y="4645152"/>
            <a:ext cx="118872" cy="118872"/>
          </a:xfrm>
          <a:prstGeom prst="ellipse">
            <a:avLst/>
          </a:prstGeom>
          <a:solidFill>
            <a:srgbClr val="FFBD49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47" name="Text 19">
            <a:extLst>
              <a:ext uri="{FF2B5EF4-FFF2-40B4-BE49-F238E27FC236}">
                <a16:creationId xmlns:a16="http://schemas.microsoft.com/office/drawing/2014/main" id="{A50E71BE-8FAA-A7C1-ECBA-086374F26395}"/>
              </a:ext>
            </a:extLst>
          </p:cNvPr>
          <p:cNvSpPr/>
          <p:nvPr/>
        </p:nvSpPr>
        <p:spPr>
          <a:xfrm>
            <a:off x="6720840" y="457200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Botão para mostrar/ocultar a palavra-passe no login do mecânico</a:t>
            </a:r>
            <a:endParaRPr lang="en-US" sz="1250" dirty="0"/>
          </a:p>
        </p:txBody>
      </p:sp>
      <p:sp>
        <p:nvSpPr>
          <p:cNvPr id="149" name="Shape 20">
            <a:extLst>
              <a:ext uri="{FF2B5EF4-FFF2-40B4-BE49-F238E27FC236}">
                <a16:creationId xmlns:a16="http://schemas.microsoft.com/office/drawing/2014/main" id="{2D32FFFA-8774-6A25-83BC-017F672FA673}"/>
              </a:ext>
            </a:extLst>
          </p:cNvPr>
          <p:cNvSpPr/>
          <p:nvPr/>
        </p:nvSpPr>
        <p:spPr>
          <a:xfrm>
            <a:off x="6446520" y="5193792"/>
            <a:ext cx="118872" cy="118872"/>
          </a:xfrm>
          <a:prstGeom prst="ellipse">
            <a:avLst/>
          </a:prstGeom>
          <a:solidFill>
            <a:srgbClr val="FFBD49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51" name="Text 21">
            <a:extLst>
              <a:ext uri="{FF2B5EF4-FFF2-40B4-BE49-F238E27FC236}">
                <a16:creationId xmlns:a16="http://schemas.microsoft.com/office/drawing/2014/main" id="{D60504EF-C4C5-3DF2-42E3-B607FA8C14DC}"/>
              </a:ext>
            </a:extLst>
          </p:cNvPr>
          <p:cNvSpPr/>
          <p:nvPr/>
        </p:nvSpPr>
        <p:spPr>
          <a:xfrm>
            <a:off x="6720840" y="512064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Maior distinção visual entre botões de ação</a:t>
            </a:r>
            <a:endParaRPr lang="en-US" sz="1250" dirty="0"/>
          </a:p>
        </p:txBody>
      </p:sp>
      <p:sp>
        <p:nvSpPr>
          <p:cNvPr id="155" name="Text 22">
            <a:extLst>
              <a:ext uri="{FF2B5EF4-FFF2-40B4-BE49-F238E27FC236}">
                <a16:creationId xmlns:a16="http://schemas.microsoft.com/office/drawing/2014/main" id="{54127AA4-6987-B702-15B6-FF01A1562CE5}"/>
              </a:ext>
            </a:extLst>
          </p:cNvPr>
          <p:cNvSpPr/>
          <p:nvPr/>
        </p:nvSpPr>
        <p:spPr>
          <a:xfrm>
            <a:off x="914400" y="63276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D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Meca </a:t>
            </a: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Móveis</a:t>
            </a:r>
            <a:endParaRPr lang="en-US" sz="1100" dirty="0"/>
          </a:p>
        </p:txBody>
      </p:sp>
      <p:sp>
        <p:nvSpPr>
          <p:cNvPr id="157" name="Text 23">
            <a:extLst>
              <a:ext uri="{FF2B5EF4-FFF2-40B4-BE49-F238E27FC236}">
                <a16:creationId xmlns:a16="http://schemas.microsoft.com/office/drawing/2014/main" id="{0357A51A-3F72-9B0D-576E-F0D72A79CB38}"/>
              </a:ext>
            </a:extLst>
          </p:cNvPr>
          <p:cNvSpPr/>
          <p:nvPr/>
        </p:nvSpPr>
        <p:spPr>
          <a:xfrm>
            <a:off x="7251192" y="63276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Leandro Dionísio · Leandro Pinto · Filipe Viegas</a:t>
            </a:r>
            <a:endParaRPr lang="en-US" sz="1000" dirty="0"/>
          </a:p>
        </p:txBody>
      </p:sp>
      <p:pic>
        <p:nvPicPr>
          <p:cNvPr id="159" name="Image 0" descr="assets/logo.png">
            <a:extLst>
              <a:ext uri="{FF2B5EF4-FFF2-40B4-BE49-F238E27FC236}">
                <a16:creationId xmlns:a16="http://schemas.microsoft.com/office/drawing/2014/main" id="{B2CBC46D-1326-39A1-7BE9-BA5D7330D9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8065" y="6011516"/>
            <a:ext cx="1188147" cy="96477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312050-ED47-F41D-FC67-438FBD2FA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Image 0" descr="assets/logo.png">
            <a:extLst>
              <a:ext uri="{FF2B5EF4-FFF2-40B4-BE49-F238E27FC236}">
                <a16:creationId xmlns:a16="http://schemas.microsoft.com/office/drawing/2014/main" id="{AE4CC296-6FA2-8C27-2B1D-92C136EF50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8065" y="6011516"/>
            <a:ext cx="1188147" cy="964774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6C81541C-21F7-17CF-0EAC-FAAE4BE60875}"/>
              </a:ext>
            </a:extLst>
          </p:cNvPr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BD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DIVULGAÇÃO</a:t>
            </a:r>
            <a:endParaRPr lang="en-US" sz="1300" dirty="0"/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B2808132-658C-5FD6-70B9-4ACC9C968E73}"/>
              </a:ext>
            </a:extLst>
          </p:cNvPr>
          <p:cNvSpPr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da Aplicação</a:t>
            </a:r>
            <a:endParaRPr lang="en-US" sz="4000" dirty="0"/>
          </a:p>
        </p:txBody>
      </p:sp>
      <p:sp>
        <p:nvSpPr>
          <p:cNvPr id="12" name="Shape 2">
            <a:extLst>
              <a:ext uri="{FF2B5EF4-FFF2-40B4-BE49-F238E27FC236}">
                <a16:creationId xmlns:a16="http://schemas.microsoft.com/office/drawing/2014/main" id="{39D07BD6-261C-DE63-8F19-5F34650070A2}"/>
              </a:ext>
            </a:extLst>
          </p:cNvPr>
          <p:cNvSpPr/>
          <p:nvPr/>
        </p:nvSpPr>
        <p:spPr>
          <a:xfrm>
            <a:off x="640080" y="1828800"/>
            <a:ext cx="10881360" cy="1051560"/>
          </a:xfrm>
          <a:prstGeom prst="roundRect">
            <a:avLst>
              <a:gd name="adj" fmla="val 10435"/>
            </a:avLst>
          </a:prstGeom>
          <a:solidFill>
            <a:srgbClr val="2F2D2A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4" name="Text 3">
            <a:extLst>
              <a:ext uri="{FF2B5EF4-FFF2-40B4-BE49-F238E27FC236}">
                <a16:creationId xmlns:a16="http://schemas.microsoft.com/office/drawing/2014/main" id="{D3969D08-F7BB-0122-EBD9-14D53E784FE2}"/>
              </a:ext>
            </a:extLst>
          </p:cNvPr>
          <p:cNvSpPr/>
          <p:nvPr/>
        </p:nvSpPr>
        <p:spPr>
          <a:xfrm>
            <a:off x="914400" y="196596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website promove a Meca Móveis herdando a identidade da marca, explicando funcionalidades, tecnologias e autoria do projeto.</a:t>
            </a:r>
            <a:endParaRPr lang="en-US" sz="1400" dirty="0"/>
          </a:p>
        </p:txBody>
      </p:sp>
      <p:sp>
        <p:nvSpPr>
          <p:cNvPr id="16" name="Shape 4">
            <a:extLst>
              <a:ext uri="{FF2B5EF4-FFF2-40B4-BE49-F238E27FC236}">
                <a16:creationId xmlns:a16="http://schemas.microsoft.com/office/drawing/2014/main" id="{57FE46E7-8ED7-1066-EEB9-DDD32454856C}"/>
              </a:ext>
            </a:extLst>
          </p:cNvPr>
          <p:cNvSpPr/>
          <p:nvPr/>
        </p:nvSpPr>
        <p:spPr>
          <a:xfrm>
            <a:off x="640080" y="3108960"/>
            <a:ext cx="1481328" cy="2468880"/>
          </a:xfrm>
          <a:prstGeom prst="roundRect">
            <a:avLst>
              <a:gd name="adj" fmla="val 7407"/>
            </a:avLst>
          </a:prstGeom>
          <a:solidFill>
            <a:srgbClr val="2F2D2A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21" name="Text 5">
            <a:extLst>
              <a:ext uri="{FF2B5EF4-FFF2-40B4-BE49-F238E27FC236}">
                <a16:creationId xmlns:a16="http://schemas.microsoft.com/office/drawing/2014/main" id="{A8E40820-CDC3-20AA-BEFB-B957C3319C69}"/>
              </a:ext>
            </a:extLst>
          </p:cNvPr>
          <p:cNvSpPr/>
          <p:nvPr/>
        </p:nvSpPr>
        <p:spPr>
          <a:xfrm>
            <a:off x="777240" y="3291840"/>
            <a:ext cx="1207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D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23" name="Text 6">
            <a:extLst>
              <a:ext uri="{FF2B5EF4-FFF2-40B4-BE49-F238E27FC236}">
                <a16:creationId xmlns:a16="http://schemas.microsoft.com/office/drawing/2014/main" id="{E69380FE-ADE2-A42C-1345-1C1E2ABA76BF}"/>
              </a:ext>
            </a:extLst>
          </p:cNvPr>
          <p:cNvSpPr/>
          <p:nvPr/>
        </p:nvSpPr>
        <p:spPr>
          <a:xfrm>
            <a:off x="777240" y="3794760"/>
            <a:ext cx="12070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Hero</a:t>
            </a:r>
            <a:endParaRPr lang="en-US" sz="1150" dirty="0"/>
          </a:p>
        </p:txBody>
      </p:sp>
      <p:sp>
        <p:nvSpPr>
          <p:cNvPr id="25" name="Shape 7">
            <a:extLst>
              <a:ext uri="{FF2B5EF4-FFF2-40B4-BE49-F238E27FC236}">
                <a16:creationId xmlns:a16="http://schemas.microsoft.com/office/drawing/2014/main" id="{484D138A-163C-1FF0-0688-B388D63BB19B}"/>
              </a:ext>
            </a:extLst>
          </p:cNvPr>
          <p:cNvSpPr/>
          <p:nvPr/>
        </p:nvSpPr>
        <p:spPr>
          <a:xfrm>
            <a:off x="2231136" y="3108960"/>
            <a:ext cx="1481328" cy="2468880"/>
          </a:xfrm>
          <a:prstGeom prst="roundRect">
            <a:avLst>
              <a:gd name="adj" fmla="val 7407"/>
            </a:avLst>
          </a:prstGeom>
          <a:solidFill>
            <a:srgbClr val="2F2D2A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27" name="Text 8">
            <a:extLst>
              <a:ext uri="{FF2B5EF4-FFF2-40B4-BE49-F238E27FC236}">
                <a16:creationId xmlns:a16="http://schemas.microsoft.com/office/drawing/2014/main" id="{067FD9AF-4A42-7D81-C161-8A21891F829D}"/>
              </a:ext>
            </a:extLst>
          </p:cNvPr>
          <p:cNvSpPr/>
          <p:nvPr/>
        </p:nvSpPr>
        <p:spPr>
          <a:xfrm>
            <a:off x="2368296" y="3291840"/>
            <a:ext cx="1207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D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29" name="Text 9">
            <a:extLst>
              <a:ext uri="{FF2B5EF4-FFF2-40B4-BE49-F238E27FC236}">
                <a16:creationId xmlns:a16="http://schemas.microsoft.com/office/drawing/2014/main" id="{58C54C1D-F651-61CB-9CE1-B7221F97A983}"/>
              </a:ext>
            </a:extLst>
          </p:cNvPr>
          <p:cNvSpPr/>
          <p:nvPr/>
        </p:nvSpPr>
        <p:spPr>
          <a:xfrm>
            <a:off x="2368296" y="3794760"/>
            <a:ext cx="12070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Funcionalidades</a:t>
            </a:r>
            <a:endParaRPr lang="en-US" sz="1150" dirty="0"/>
          </a:p>
        </p:txBody>
      </p:sp>
      <p:sp>
        <p:nvSpPr>
          <p:cNvPr id="31" name="Shape 10">
            <a:extLst>
              <a:ext uri="{FF2B5EF4-FFF2-40B4-BE49-F238E27FC236}">
                <a16:creationId xmlns:a16="http://schemas.microsoft.com/office/drawing/2014/main" id="{6CDD13C7-ADD7-EA70-D1E6-34C26AC717FC}"/>
              </a:ext>
            </a:extLst>
          </p:cNvPr>
          <p:cNvSpPr/>
          <p:nvPr/>
        </p:nvSpPr>
        <p:spPr>
          <a:xfrm>
            <a:off x="3822192" y="3108960"/>
            <a:ext cx="1481328" cy="2468880"/>
          </a:xfrm>
          <a:prstGeom prst="roundRect">
            <a:avLst>
              <a:gd name="adj" fmla="val 7407"/>
            </a:avLst>
          </a:prstGeom>
          <a:solidFill>
            <a:srgbClr val="2F2D2A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33" name="Text 11">
            <a:extLst>
              <a:ext uri="{FF2B5EF4-FFF2-40B4-BE49-F238E27FC236}">
                <a16:creationId xmlns:a16="http://schemas.microsoft.com/office/drawing/2014/main" id="{76E3669B-00FD-EC22-5843-FBC82A1709A2}"/>
              </a:ext>
            </a:extLst>
          </p:cNvPr>
          <p:cNvSpPr/>
          <p:nvPr/>
        </p:nvSpPr>
        <p:spPr>
          <a:xfrm>
            <a:off x="3959352" y="3291840"/>
            <a:ext cx="1207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D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35" name="Text 12">
            <a:extLst>
              <a:ext uri="{FF2B5EF4-FFF2-40B4-BE49-F238E27FC236}">
                <a16:creationId xmlns:a16="http://schemas.microsoft.com/office/drawing/2014/main" id="{95DF0B4F-7126-45A9-8BB3-010ACE670DA8}"/>
              </a:ext>
            </a:extLst>
          </p:cNvPr>
          <p:cNvSpPr/>
          <p:nvPr/>
        </p:nvSpPr>
        <p:spPr>
          <a:xfrm>
            <a:off x="3959352" y="3794760"/>
            <a:ext cx="12070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Galeria de Ecrãs</a:t>
            </a:r>
            <a:endParaRPr lang="en-US" sz="1150" dirty="0"/>
          </a:p>
        </p:txBody>
      </p:sp>
      <p:sp>
        <p:nvSpPr>
          <p:cNvPr id="37" name="Shape 13">
            <a:extLst>
              <a:ext uri="{FF2B5EF4-FFF2-40B4-BE49-F238E27FC236}">
                <a16:creationId xmlns:a16="http://schemas.microsoft.com/office/drawing/2014/main" id="{9C6823C3-BAE4-E7D7-0502-F7FAAD82A354}"/>
              </a:ext>
            </a:extLst>
          </p:cNvPr>
          <p:cNvSpPr/>
          <p:nvPr/>
        </p:nvSpPr>
        <p:spPr>
          <a:xfrm>
            <a:off x="5413248" y="3108960"/>
            <a:ext cx="1481328" cy="2468880"/>
          </a:xfrm>
          <a:prstGeom prst="roundRect">
            <a:avLst>
              <a:gd name="adj" fmla="val 7407"/>
            </a:avLst>
          </a:prstGeom>
          <a:solidFill>
            <a:srgbClr val="2F2D2A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39" name="Text 14">
            <a:extLst>
              <a:ext uri="{FF2B5EF4-FFF2-40B4-BE49-F238E27FC236}">
                <a16:creationId xmlns:a16="http://schemas.microsoft.com/office/drawing/2014/main" id="{23F42600-6F3C-D3A9-84D8-EC3958BF1759}"/>
              </a:ext>
            </a:extLst>
          </p:cNvPr>
          <p:cNvSpPr/>
          <p:nvPr/>
        </p:nvSpPr>
        <p:spPr>
          <a:xfrm>
            <a:off x="5550408" y="3291840"/>
            <a:ext cx="1207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D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500" dirty="0"/>
          </a:p>
        </p:txBody>
      </p:sp>
      <p:sp>
        <p:nvSpPr>
          <p:cNvPr id="41" name="Text 15">
            <a:extLst>
              <a:ext uri="{FF2B5EF4-FFF2-40B4-BE49-F238E27FC236}">
                <a16:creationId xmlns:a16="http://schemas.microsoft.com/office/drawing/2014/main" id="{D3C5B48E-6055-7A4F-6174-1600CF10E315}"/>
              </a:ext>
            </a:extLst>
          </p:cNvPr>
          <p:cNvSpPr/>
          <p:nvPr/>
        </p:nvSpPr>
        <p:spPr>
          <a:xfrm>
            <a:off x="5550408" y="3794760"/>
            <a:ext cx="12070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Sobre Nós</a:t>
            </a:r>
            <a:endParaRPr lang="en-US" sz="1150" dirty="0"/>
          </a:p>
        </p:txBody>
      </p:sp>
      <p:sp>
        <p:nvSpPr>
          <p:cNvPr id="43" name="Shape 16">
            <a:extLst>
              <a:ext uri="{FF2B5EF4-FFF2-40B4-BE49-F238E27FC236}">
                <a16:creationId xmlns:a16="http://schemas.microsoft.com/office/drawing/2014/main" id="{4FC04EEC-8DB1-5E3A-045C-5B5445D94597}"/>
              </a:ext>
            </a:extLst>
          </p:cNvPr>
          <p:cNvSpPr/>
          <p:nvPr/>
        </p:nvSpPr>
        <p:spPr>
          <a:xfrm>
            <a:off x="7004304" y="3108960"/>
            <a:ext cx="1481328" cy="2468880"/>
          </a:xfrm>
          <a:prstGeom prst="roundRect">
            <a:avLst>
              <a:gd name="adj" fmla="val 7407"/>
            </a:avLst>
          </a:prstGeom>
          <a:solidFill>
            <a:srgbClr val="2F2D2A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45" name="Text 17">
            <a:extLst>
              <a:ext uri="{FF2B5EF4-FFF2-40B4-BE49-F238E27FC236}">
                <a16:creationId xmlns:a16="http://schemas.microsoft.com/office/drawing/2014/main" id="{D4C993BD-8742-E67A-58CD-8455479BF3D4}"/>
              </a:ext>
            </a:extLst>
          </p:cNvPr>
          <p:cNvSpPr/>
          <p:nvPr/>
        </p:nvSpPr>
        <p:spPr>
          <a:xfrm>
            <a:off x="7141464" y="3291840"/>
            <a:ext cx="1207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D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500" dirty="0"/>
          </a:p>
        </p:txBody>
      </p:sp>
      <p:sp>
        <p:nvSpPr>
          <p:cNvPr id="47" name="Text 18">
            <a:extLst>
              <a:ext uri="{FF2B5EF4-FFF2-40B4-BE49-F238E27FC236}">
                <a16:creationId xmlns:a16="http://schemas.microsoft.com/office/drawing/2014/main" id="{3B4B33FB-6ECB-EFBE-12BF-93317D9952BB}"/>
              </a:ext>
            </a:extLst>
          </p:cNvPr>
          <p:cNvSpPr/>
          <p:nvPr/>
        </p:nvSpPr>
        <p:spPr>
          <a:xfrm>
            <a:off x="7141464" y="3794760"/>
            <a:ext cx="12070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Construção do Projeto</a:t>
            </a:r>
            <a:endParaRPr lang="en-US" sz="1150" dirty="0"/>
          </a:p>
        </p:txBody>
      </p:sp>
      <p:sp>
        <p:nvSpPr>
          <p:cNvPr id="49" name="Shape 19">
            <a:extLst>
              <a:ext uri="{FF2B5EF4-FFF2-40B4-BE49-F238E27FC236}">
                <a16:creationId xmlns:a16="http://schemas.microsoft.com/office/drawing/2014/main" id="{855CCF9D-E10E-98F1-C1AD-FAD031DCDCD3}"/>
              </a:ext>
            </a:extLst>
          </p:cNvPr>
          <p:cNvSpPr/>
          <p:nvPr/>
        </p:nvSpPr>
        <p:spPr>
          <a:xfrm>
            <a:off x="8595360" y="3108960"/>
            <a:ext cx="1481328" cy="2468880"/>
          </a:xfrm>
          <a:prstGeom prst="roundRect">
            <a:avLst>
              <a:gd name="adj" fmla="val 7407"/>
            </a:avLst>
          </a:prstGeom>
          <a:solidFill>
            <a:srgbClr val="2F2D2A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51" name="Text 20">
            <a:extLst>
              <a:ext uri="{FF2B5EF4-FFF2-40B4-BE49-F238E27FC236}">
                <a16:creationId xmlns:a16="http://schemas.microsoft.com/office/drawing/2014/main" id="{B5E9BD35-D746-A9A1-CC67-7529F76B7F9B}"/>
              </a:ext>
            </a:extLst>
          </p:cNvPr>
          <p:cNvSpPr/>
          <p:nvPr/>
        </p:nvSpPr>
        <p:spPr>
          <a:xfrm>
            <a:off x="8732520" y="3291840"/>
            <a:ext cx="1207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D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500" dirty="0"/>
          </a:p>
        </p:txBody>
      </p:sp>
      <p:sp>
        <p:nvSpPr>
          <p:cNvPr id="53" name="Text 21">
            <a:extLst>
              <a:ext uri="{FF2B5EF4-FFF2-40B4-BE49-F238E27FC236}">
                <a16:creationId xmlns:a16="http://schemas.microsoft.com/office/drawing/2014/main" id="{20F38B46-D995-D9D0-41A7-D2DE09E279DD}"/>
              </a:ext>
            </a:extLst>
          </p:cNvPr>
          <p:cNvSpPr/>
          <p:nvPr/>
        </p:nvSpPr>
        <p:spPr>
          <a:xfrm>
            <a:off x="8732520" y="3794760"/>
            <a:ext cx="12070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to Action</a:t>
            </a:r>
            <a:endParaRPr lang="en-US" sz="1150" dirty="0"/>
          </a:p>
        </p:txBody>
      </p:sp>
      <p:sp>
        <p:nvSpPr>
          <p:cNvPr id="55" name="Shape 22">
            <a:extLst>
              <a:ext uri="{FF2B5EF4-FFF2-40B4-BE49-F238E27FC236}">
                <a16:creationId xmlns:a16="http://schemas.microsoft.com/office/drawing/2014/main" id="{0983719F-8C05-77F9-98E0-FA4CABE22AEB}"/>
              </a:ext>
            </a:extLst>
          </p:cNvPr>
          <p:cNvSpPr/>
          <p:nvPr/>
        </p:nvSpPr>
        <p:spPr>
          <a:xfrm>
            <a:off x="10186416" y="3108960"/>
            <a:ext cx="1481328" cy="2468880"/>
          </a:xfrm>
          <a:prstGeom prst="roundRect">
            <a:avLst>
              <a:gd name="adj" fmla="val 7407"/>
            </a:avLst>
          </a:prstGeom>
          <a:solidFill>
            <a:srgbClr val="2F2D2A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57" name="Text 23">
            <a:extLst>
              <a:ext uri="{FF2B5EF4-FFF2-40B4-BE49-F238E27FC236}">
                <a16:creationId xmlns:a16="http://schemas.microsoft.com/office/drawing/2014/main" id="{4AF03F17-B8EB-B679-D5E4-BB9BF013E606}"/>
              </a:ext>
            </a:extLst>
          </p:cNvPr>
          <p:cNvSpPr/>
          <p:nvPr/>
        </p:nvSpPr>
        <p:spPr>
          <a:xfrm>
            <a:off x="10323576" y="3291840"/>
            <a:ext cx="1207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BD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500" dirty="0"/>
          </a:p>
        </p:txBody>
      </p:sp>
      <p:sp>
        <p:nvSpPr>
          <p:cNvPr id="59" name="Text 24">
            <a:extLst>
              <a:ext uri="{FF2B5EF4-FFF2-40B4-BE49-F238E27FC236}">
                <a16:creationId xmlns:a16="http://schemas.microsoft.com/office/drawing/2014/main" id="{EBF18F48-0351-FDFA-4ADF-B572A78F8D40}"/>
              </a:ext>
            </a:extLst>
          </p:cNvPr>
          <p:cNvSpPr/>
          <p:nvPr/>
        </p:nvSpPr>
        <p:spPr>
          <a:xfrm>
            <a:off x="10323576" y="3794760"/>
            <a:ext cx="12070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Footer</a:t>
            </a:r>
            <a:endParaRPr lang="en-US" sz="1150" dirty="0"/>
          </a:p>
        </p:txBody>
      </p:sp>
      <p:pic>
        <p:nvPicPr>
          <p:cNvPr id="61" name="Image 0" descr="assets/logo.png">
            <a:extLst>
              <a:ext uri="{FF2B5EF4-FFF2-40B4-BE49-F238E27FC236}">
                <a16:creationId xmlns:a16="http://schemas.microsoft.com/office/drawing/2014/main" id="{A24D592F-4BF4-DB05-A32D-957FB08535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6291072"/>
            <a:ext cx="457200" cy="371246"/>
          </a:xfrm>
          <a:prstGeom prst="rect">
            <a:avLst/>
          </a:prstGeom>
        </p:spPr>
      </p:pic>
      <p:sp>
        <p:nvSpPr>
          <p:cNvPr id="63" name="Text 25">
            <a:extLst>
              <a:ext uri="{FF2B5EF4-FFF2-40B4-BE49-F238E27FC236}">
                <a16:creationId xmlns:a16="http://schemas.microsoft.com/office/drawing/2014/main" id="{24651CEE-4E4A-E337-66CF-F656C2A1BA5C}"/>
              </a:ext>
            </a:extLst>
          </p:cNvPr>
          <p:cNvSpPr/>
          <p:nvPr/>
        </p:nvSpPr>
        <p:spPr>
          <a:xfrm>
            <a:off x="914400" y="63276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D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Meca </a:t>
            </a: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Móveis</a:t>
            </a:r>
            <a:endParaRPr lang="en-US" sz="1100" dirty="0"/>
          </a:p>
        </p:txBody>
      </p:sp>
      <p:sp>
        <p:nvSpPr>
          <p:cNvPr id="65" name="Text 26">
            <a:extLst>
              <a:ext uri="{FF2B5EF4-FFF2-40B4-BE49-F238E27FC236}">
                <a16:creationId xmlns:a16="http://schemas.microsoft.com/office/drawing/2014/main" id="{6B300913-5886-9D8E-D8AD-E18073D480CE}"/>
              </a:ext>
            </a:extLst>
          </p:cNvPr>
          <p:cNvSpPr/>
          <p:nvPr/>
        </p:nvSpPr>
        <p:spPr>
          <a:xfrm>
            <a:off x="7251192" y="63276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Leandro Dionísio · Leandro Pinto · Filipe Viegas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8895818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014244-F88A-6621-510F-64E4CF7357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0">
            <a:extLst>
              <a:ext uri="{FF2B5EF4-FFF2-40B4-BE49-F238E27FC236}">
                <a16:creationId xmlns:a16="http://schemas.microsoft.com/office/drawing/2014/main" id="{3D4966D5-1BD6-6CDB-724D-AC5C3E3B369F}"/>
              </a:ext>
            </a:extLst>
          </p:cNvPr>
          <p:cNvSpPr/>
          <p:nvPr/>
        </p:nvSpPr>
        <p:spPr>
          <a:xfrm>
            <a:off x="640080" y="2651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BD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CAPÍTULO 06</a:t>
            </a:r>
            <a:endParaRPr lang="en-US" sz="1300" dirty="0"/>
          </a:p>
        </p:txBody>
      </p:sp>
      <p:sp>
        <p:nvSpPr>
          <p:cNvPr id="33" name="Text 1">
            <a:extLst>
              <a:ext uri="{FF2B5EF4-FFF2-40B4-BE49-F238E27FC236}">
                <a16:creationId xmlns:a16="http://schemas.microsoft.com/office/drawing/2014/main" id="{98CB4B60-5DA6-7A10-58CC-36450B38C3EE}"/>
              </a:ext>
            </a:extLst>
          </p:cNvPr>
          <p:cNvSpPr/>
          <p:nvPr/>
        </p:nvSpPr>
        <p:spPr>
          <a:xfrm>
            <a:off x="594360" y="3017520"/>
            <a:ext cx="8229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Demonstração Do </a:t>
            </a:r>
          </a:p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</a:t>
            </a:r>
            <a:endParaRPr lang="en-US" sz="4600" dirty="0"/>
          </a:p>
        </p:txBody>
      </p:sp>
      <p:sp>
        <p:nvSpPr>
          <p:cNvPr id="35" name="Text 2">
            <a:extLst>
              <a:ext uri="{FF2B5EF4-FFF2-40B4-BE49-F238E27FC236}">
                <a16:creationId xmlns:a16="http://schemas.microsoft.com/office/drawing/2014/main" id="{05CF479C-6E93-4612-3370-B5F194FD9878}"/>
              </a:ext>
            </a:extLst>
          </p:cNvPr>
          <p:cNvSpPr/>
          <p:nvPr/>
        </p:nvSpPr>
        <p:spPr>
          <a:xfrm>
            <a:off x="9811512" y="502920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0" dirty="0"/>
          </a:p>
        </p:txBody>
      </p:sp>
      <p:sp>
        <p:nvSpPr>
          <p:cNvPr id="39" name="Text 3">
            <a:extLst>
              <a:ext uri="{FF2B5EF4-FFF2-40B4-BE49-F238E27FC236}">
                <a16:creationId xmlns:a16="http://schemas.microsoft.com/office/drawing/2014/main" id="{8730A43F-5D99-3D53-3038-AFD7851390F9}"/>
              </a:ext>
            </a:extLst>
          </p:cNvPr>
          <p:cNvSpPr/>
          <p:nvPr/>
        </p:nvSpPr>
        <p:spPr>
          <a:xfrm>
            <a:off x="914400" y="63276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D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Meca </a:t>
            </a: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Móveis</a:t>
            </a:r>
            <a:endParaRPr lang="en-US" sz="1100" dirty="0"/>
          </a:p>
        </p:txBody>
      </p:sp>
      <p:sp>
        <p:nvSpPr>
          <p:cNvPr id="41" name="Text 4">
            <a:extLst>
              <a:ext uri="{FF2B5EF4-FFF2-40B4-BE49-F238E27FC236}">
                <a16:creationId xmlns:a16="http://schemas.microsoft.com/office/drawing/2014/main" id="{6F991DC7-2B14-4CC8-A7E2-EF6AFA101E3E}"/>
              </a:ext>
            </a:extLst>
          </p:cNvPr>
          <p:cNvSpPr/>
          <p:nvPr/>
        </p:nvSpPr>
        <p:spPr>
          <a:xfrm>
            <a:off x="7251192" y="63276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Leandro Dionísio · Leandro Pinto · Filipe Viegas</a:t>
            </a:r>
            <a:endParaRPr lang="en-US" sz="1000" dirty="0"/>
          </a:p>
        </p:txBody>
      </p:sp>
      <p:pic>
        <p:nvPicPr>
          <p:cNvPr id="43" name="Image 0" descr="assets/logo.png">
            <a:extLst>
              <a:ext uri="{FF2B5EF4-FFF2-40B4-BE49-F238E27FC236}">
                <a16:creationId xmlns:a16="http://schemas.microsoft.com/office/drawing/2014/main" id="{DC9C6335-8B6D-2D3E-D9A4-B06C5E66C1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8065" y="6011516"/>
            <a:ext cx="1188147" cy="964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0717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C19189-F4C3-92FC-0344-6F0FB361E1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0">
            <a:extLst>
              <a:ext uri="{FF2B5EF4-FFF2-40B4-BE49-F238E27FC236}">
                <a16:creationId xmlns:a16="http://schemas.microsoft.com/office/drawing/2014/main" id="{429CC547-599A-9C20-5E9B-A2F5ED2DBC5F}"/>
              </a:ext>
            </a:extLst>
          </p:cNvPr>
          <p:cNvSpPr/>
          <p:nvPr/>
        </p:nvSpPr>
        <p:spPr>
          <a:xfrm>
            <a:off x="640080" y="2651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BD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CAPÍTULO 07</a:t>
            </a:r>
            <a:endParaRPr lang="en-US" sz="1300" dirty="0"/>
          </a:p>
        </p:txBody>
      </p:sp>
      <p:sp>
        <p:nvSpPr>
          <p:cNvPr id="33" name="Text 1">
            <a:extLst>
              <a:ext uri="{FF2B5EF4-FFF2-40B4-BE49-F238E27FC236}">
                <a16:creationId xmlns:a16="http://schemas.microsoft.com/office/drawing/2014/main" id="{7D7E4AC0-E113-40DE-70D5-260FD6B6F8C3}"/>
              </a:ext>
            </a:extLst>
          </p:cNvPr>
          <p:cNvSpPr/>
          <p:nvPr/>
        </p:nvSpPr>
        <p:spPr>
          <a:xfrm>
            <a:off x="594360" y="3017520"/>
            <a:ext cx="8229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Demonstração Da</a:t>
            </a:r>
          </a:p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</a:t>
            </a:r>
          </a:p>
        </p:txBody>
      </p:sp>
      <p:sp>
        <p:nvSpPr>
          <p:cNvPr id="35" name="Text 2">
            <a:extLst>
              <a:ext uri="{FF2B5EF4-FFF2-40B4-BE49-F238E27FC236}">
                <a16:creationId xmlns:a16="http://schemas.microsoft.com/office/drawing/2014/main" id="{F94143EB-3453-871C-1BE8-171B55D18C90}"/>
              </a:ext>
            </a:extLst>
          </p:cNvPr>
          <p:cNvSpPr/>
          <p:nvPr/>
        </p:nvSpPr>
        <p:spPr>
          <a:xfrm>
            <a:off x="9811512" y="502920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0" dirty="0"/>
          </a:p>
        </p:txBody>
      </p:sp>
      <p:sp>
        <p:nvSpPr>
          <p:cNvPr id="39" name="Text 3">
            <a:extLst>
              <a:ext uri="{FF2B5EF4-FFF2-40B4-BE49-F238E27FC236}">
                <a16:creationId xmlns:a16="http://schemas.microsoft.com/office/drawing/2014/main" id="{DFBB2329-7FC1-BB94-486D-E4AE1581ACE7}"/>
              </a:ext>
            </a:extLst>
          </p:cNvPr>
          <p:cNvSpPr/>
          <p:nvPr/>
        </p:nvSpPr>
        <p:spPr>
          <a:xfrm>
            <a:off x="914400" y="63276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D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Meca </a:t>
            </a: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Móveis</a:t>
            </a:r>
            <a:endParaRPr lang="en-US" sz="1100" dirty="0"/>
          </a:p>
        </p:txBody>
      </p:sp>
      <p:sp>
        <p:nvSpPr>
          <p:cNvPr id="41" name="Text 4">
            <a:extLst>
              <a:ext uri="{FF2B5EF4-FFF2-40B4-BE49-F238E27FC236}">
                <a16:creationId xmlns:a16="http://schemas.microsoft.com/office/drawing/2014/main" id="{2293719B-CA7A-4C1D-633B-9B06849412CB}"/>
              </a:ext>
            </a:extLst>
          </p:cNvPr>
          <p:cNvSpPr/>
          <p:nvPr/>
        </p:nvSpPr>
        <p:spPr>
          <a:xfrm>
            <a:off x="7251192" y="63276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Leandro Dionísio · Leandro Pinto · Filipe Viegas</a:t>
            </a:r>
            <a:endParaRPr lang="en-US" sz="1000" dirty="0"/>
          </a:p>
        </p:txBody>
      </p:sp>
      <p:pic>
        <p:nvPicPr>
          <p:cNvPr id="43" name="Image 0" descr="assets/logo.png">
            <a:extLst>
              <a:ext uri="{FF2B5EF4-FFF2-40B4-BE49-F238E27FC236}">
                <a16:creationId xmlns:a16="http://schemas.microsoft.com/office/drawing/2014/main" id="{1C84DF4E-37F7-29E7-8A6F-3C44E04ED3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8065" y="6011516"/>
            <a:ext cx="1188147" cy="964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19776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>
            <a:extLst>
              <a:ext uri="{FF2B5EF4-FFF2-40B4-BE49-F238E27FC236}">
                <a16:creationId xmlns:a16="http://schemas.microsoft.com/office/drawing/2014/main" id="{BFDB3B4B-0896-9FA2-861D-5FEEB7D0EC92}"/>
              </a:ext>
            </a:extLst>
          </p:cNvPr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BD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BALANÇO FINAL</a:t>
            </a:r>
            <a:endParaRPr lang="en-US" sz="1300" dirty="0"/>
          </a:p>
        </p:txBody>
      </p:sp>
      <p:sp>
        <p:nvSpPr>
          <p:cNvPr id="17" name="Text 1">
            <a:extLst>
              <a:ext uri="{FF2B5EF4-FFF2-40B4-BE49-F238E27FC236}">
                <a16:creationId xmlns:a16="http://schemas.microsoft.com/office/drawing/2014/main" id="{F6B5380D-C9EA-94F0-C0CA-F978E2F41743}"/>
              </a:ext>
            </a:extLst>
          </p:cNvPr>
          <p:cNvSpPr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Conclusão</a:t>
            </a:r>
            <a:endParaRPr lang="en-US" sz="4000" dirty="0"/>
          </a:p>
        </p:txBody>
      </p:sp>
      <p:sp>
        <p:nvSpPr>
          <p:cNvPr id="21" name="Shape 2">
            <a:extLst>
              <a:ext uri="{FF2B5EF4-FFF2-40B4-BE49-F238E27FC236}">
                <a16:creationId xmlns:a16="http://schemas.microsoft.com/office/drawing/2014/main" id="{FE278A8D-6083-145C-3B6E-E0EF9F6F3CD1}"/>
              </a:ext>
            </a:extLst>
          </p:cNvPr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2667"/>
            </a:avLst>
          </a:prstGeom>
          <a:solidFill>
            <a:srgbClr val="2F2D2A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24" name="Text 3">
            <a:extLst>
              <a:ext uri="{FF2B5EF4-FFF2-40B4-BE49-F238E27FC236}">
                <a16:creationId xmlns:a16="http://schemas.microsoft.com/office/drawing/2014/main" id="{078A2086-93C3-7598-8BA7-CF1787F1EBF7}"/>
              </a:ext>
            </a:extLst>
          </p:cNvPr>
          <p:cNvSpPr/>
          <p:nvPr/>
        </p:nvSpPr>
        <p:spPr>
          <a:xfrm>
            <a:off x="1005840" y="2194560"/>
            <a:ext cx="10149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realização deste trabalho foi desafiante a nível cognitivo e organizacional, exigindo uma camada de complexidade adicional face ao projeto anterior.</a:t>
            </a:r>
            <a:endParaRPr lang="en-US" sz="1600" dirty="0"/>
          </a:p>
        </p:txBody>
      </p:sp>
      <p:sp>
        <p:nvSpPr>
          <p:cNvPr id="26" name="Text 4">
            <a:extLst>
              <a:ext uri="{FF2B5EF4-FFF2-40B4-BE49-F238E27FC236}">
                <a16:creationId xmlns:a16="http://schemas.microsoft.com/office/drawing/2014/main" id="{C9EFF167-8200-467B-736C-AEDB3273A53E}"/>
              </a:ext>
            </a:extLst>
          </p:cNvPr>
          <p:cNvSpPr/>
          <p:nvPr/>
        </p:nvSpPr>
        <p:spPr>
          <a:xfrm>
            <a:off x="1005840" y="3337560"/>
            <a:ext cx="10149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B8B4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Foi igualmente gratificante construir em equipa uma </a:t>
            </a:r>
            <a:r>
              <a:rPr lang="en-US" sz="1600" dirty="0" err="1">
                <a:solidFill>
                  <a:srgbClr val="B8B4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aplicação</a:t>
            </a:r>
            <a:r>
              <a:rPr lang="en-US" sz="1600" dirty="0">
                <a:solidFill>
                  <a:srgbClr val="B8B4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desta complexidade, transformando uma ideia num resultado cada vez mais tangível.</a:t>
            </a:r>
            <a:endParaRPr lang="en-US" sz="1600" dirty="0"/>
          </a:p>
        </p:txBody>
      </p:sp>
      <p:sp>
        <p:nvSpPr>
          <p:cNvPr id="28" name="Text 5">
            <a:extLst>
              <a:ext uri="{FF2B5EF4-FFF2-40B4-BE49-F238E27FC236}">
                <a16:creationId xmlns:a16="http://schemas.microsoft.com/office/drawing/2014/main" id="{84DBF505-2E47-B1F3-83DF-1CED05BCA402}"/>
              </a:ext>
            </a:extLst>
          </p:cNvPr>
          <p:cNvSpPr/>
          <p:nvPr/>
        </p:nvSpPr>
        <p:spPr>
          <a:xfrm>
            <a:off x="1005840" y="4480560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BD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projeto avança até ao final do curso.</a:t>
            </a:r>
            <a:endParaRPr lang="en-US" sz="1800" dirty="0"/>
          </a:p>
        </p:txBody>
      </p:sp>
      <p:pic>
        <p:nvPicPr>
          <p:cNvPr id="30" name="Image 0" descr="assets/logo.png">
            <a:extLst>
              <a:ext uri="{FF2B5EF4-FFF2-40B4-BE49-F238E27FC236}">
                <a16:creationId xmlns:a16="http://schemas.microsoft.com/office/drawing/2014/main" id="{D55CF492-F7EA-6440-273F-0774C1E030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8065" y="6011516"/>
            <a:ext cx="1188147" cy="964774"/>
          </a:xfrm>
          <a:prstGeom prst="rect">
            <a:avLst/>
          </a:prstGeom>
        </p:spPr>
      </p:pic>
      <p:sp>
        <p:nvSpPr>
          <p:cNvPr id="32" name="Text 6">
            <a:extLst>
              <a:ext uri="{FF2B5EF4-FFF2-40B4-BE49-F238E27FC236}">
                <a16:creationId xmlns:a16="http://schemas.microsoft.com/office/drawing/2014/main" id="{1D5AD74B-0DD8-08B5-28F1-61543121721C}"/>
              </a:ext>
            </a:extLst>
          </p:cNvPr>
          <p:cNvSpPr/>
          <p:nvPr/>
        </p:nvSpPr>
        <p:spPr>
          <a:xfrm>
            <a:off x="914400" y="63276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D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Meca </a:t>
            </a: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Móveis</a:t>
            </a:r>
            <a:endParaRPr lang="en-US" sz="1100" dirty="0"/>
          </a:p>
        </p:txBody>
      </p:sp>
      <p:sp>
        <p:nvSpPr>
          <p:cNvPr id="34" name="Text 7">
            <a:extLst>
              <a:ext uri="{FF2B5EF4-FFF2-40B4-BE49-F238E27FC236}">
                <a16:creationId xmlns:a16="http://schemas.microsoft.com/office/drawing/2014/main" id="{E43A31A0-1E3A-13D6-758C-CC3F4E7F66DB}"/>
              </a:ext>
            </a:extLst>
          </p:cNvPr>
          <p:cNvSpPr/>
          <p:nvPr/>
        </p:nvSpPr>
        <p:spPr>
          <a:xfrm>
            <a:off x="7251192" y="63276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6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Leandro Dionísio · Leandro Pinto · Filipe Viegas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0" descr="assets/logo.png">
            <a:extLst>
              <a:ext uri="{FF2B5EF4-FFF2-40B4-BE49-F238E27FC236}">
                <a16:creationId xmlns:a16="http://schemas.microsoft.com/office/drawing/2014/main" id="{89373663-C936-CCF8-BF03-82551BB531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2989" y="1004593"/>
            <a:ext cx="3842974" cy="3842974"/>
          </a:xfrm>
          <a:prstGeom prst="rect">
            <a:avLst/>
          </a:prstGeom>
        </p:spPr>
      </p:pic>
      <p:sp>
        <p:nvSpPr>
          <p:cNvPr id="17" name="Text 0">
            <a:extLst>
              <a:ext uri="{FF2B5EF4-FFF2-40B4-BE49-F238E27FC236}">
                <a16:creationId xmlns:a16="http://schemas.microsoft.com/office/drawing/2014/main" id="{261A6273-DE58-55F9-EE9A-68462C5D4B5C}"/>
              </a:ext>
            </a:extLst>
          </p:cNvPr>
          <p:cNvSpPr/>
          <p:nvPr/>
        </p:nvSpPr>
        <p:spPr>
          <a:xfrm>
            <a:off x="0" y="3931920"/>
            <a:ext cx="12188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Obrigado.</a:t>
            </a:r>
            <a:endParaRPr lang="en-US" sz="4000" dirty="0"/>
          </a:p>
        </p:txBody>
      </p:sp>
      <p:sp>
        <p:nvSpPr>
          <p:cNvPr id="21" name="Text 1">
            <a:extLst>
              <a:ext uri="{FF2B5EF4-FFF2-40B4-BE49-F238E27FC236}">
                <a16:creationId xmlns:a16="http://schemas.microsoft.com/office/drawing/2014/main" id="{C8F0211E-F9AE-CB10-014B-DA66EF9C0202}"/>
              </a:ext>
            </a:extLst>
          </p:cNvPr>
          <p:cNvSpPr/>
          <p:nvPr/>
        </p:nvSpPr>
        <p:spPr>
          <a:xfrm>
            <a:off x="0" y="470916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BD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Meca Móveis — Relatório PALC [TWDM] — IPBeja</a:t>
            </a:r>
            <a:endParaRPr lang="en-US" sz="1400" dirty="0"/>
          </a:p>
        </p:txBody>
      </p:sp>
      <p:sp>
        <p:nvSpPr>
          <p:cNvPr id="24" name="Text 2">
            <a:extLst>
              <a:ext uri="{FF2B5EF4-FFF2-40B4-BE49-F238E27FC236}">
                <a16:creationId xmlns:a16="http://schemas.microsoft.com/office/drawing/2014/main" id="{F0C65C95-8F29-B206-9160-9A8A60A18887}"/>
              </a:ext>
            </a:extLst>
          </p:cNvPr>
          <p:cNvSpPr/>
          <p:nvPr/>
        </p:nvSpPr>
        <p:spPr>
          <a:xfrm>
            <a:off x="0" y="507492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8B4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Leandro Dionísio Nº27981   ·   Leandro Pinto Nº28434   ·   Filipe Viegas Nº27979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440</TotalTime>
  <Words>1369</Words>
  <Application>Microsoft Office PowerPoint</Application>
  <PresentationFormat>Ecrã Panorâmico</PresentationFormat>
  <Paragraphs>268</Paragraphs>
  <Slides>22</Slides>
  <Notes>22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22</vt:i4>
      </vt:variant>
    </vt:vector>
  </HeadingPairs>
  <TitlesOfParts>
    <vt:vector size="24" baseType="lpstr"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Leandro Dionísio</cp:lastModifiedBy>
  <cp:revision>16</cp:revision>
  <dcterms:created xsi:type="dcterms:W3CDTF">2026-07-10T11:35:46Z</dcterms:created>
  <dcterms:modified xsi:type="dcterms:W3CDTF">2026-07-15T15:39:53Z</dcterms:modified>
</cp:coreProperties>
</file>